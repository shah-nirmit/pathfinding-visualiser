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9" r:id="rId10"/>
    <p:sldId id="270" r:id="rId11"/>
    <p:sldId id="271" r:id="rId12"/>
    <p:sldId id="272" r:id="rId13"/>
    <p:sldId id="264" r:id="rId14"/>
    <p:sldId id="265" r:id="rId15"/>
    <p:sldId id="266" r:id="rId16"/>
    <p:sldId id="267" r:id="rId17"/>
    <p:sldId id="268" r:id="rId1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4334" autoAdjust="0"/>
  </p:normalViewPr>
  <p:slideViewPr>
    <p:cSldViewPr snapToGrid="0" snapToObjects="1">
      <p:cViewPr>
        <p:scale>
          <a:sx n="75" d="100"/>
          <a:sy n="75" d="100"/>
        </p:scale>
        <p:origin x="1020"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38312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r>
              <a:rPr sz="1100" dirty="0">
                <a:latin typeface="Arial"/>
              </a:rPr>
              <a:t>[~30s] Good morning. I'm Nirmit, and this is my internship final review covering the AI-Native</a:t>
            </a:r>
            <a:r>
              <a:rPr lang="en-US" sz="1100" dirty="0">
                <a:latin typeface="Arial"/>
              </a:rPr>
              <a:t> Group</a:t>
            </a:r>
            <a:r>
              <a:rPr sz="1100" dirty="0">
                <a:latin typeface="Arial"/>
              </a:rPr>
              <a:t> HR project.</a:t>
            </a:r>
          </a:p>
          <a:p>
            <a:pPr algn="l"/>
            <a:r>
              <a:rPr sz="1100" dirty="0">
                <a:latin typeface="Arial"/>
              </a:rPr>
              <a:t>Over the past </a:t>
            </a:r>
            <a:r>
              <a:rPr lang="en-US" sz="1100" dirty="0">
                <a:latin typeface="Arial"/>
              </a:rPr>
              <a:t>two </a:t>
            </a:r>
            <a:r>
              <a:rPr sz="1100" dirty="0">
                <a:latin typeface="Arial"/>
              </a:rPr>
              <a:t>months, I worked on three things: designing AI-native operating models for two Tata Group HR verticals — TMTC and TAS — and building </a:t>
            </a:r>
            <a:r>
              <a:rPr lang="en-US" sz="1100" dirty="0">
                <a:latin typeface="Arial"/>
              </a:rPr>
              <a:t>UX</a:t>
            </a:r>
            <a:r>
              <a:rPr sz="1100" dirty="0">
                <a:latin typeface="Arial"/>
              </a:rPr>
              <a:t> AI-First Hiring Platform from scratch.</a:t>
            </a:r>
          </a:p>
          <a:p>
            <a:pPr algn="l"/>
            <a:r>
              <a:rPr sz="1100" dirty="0">
                <a:latin typeface="Arial"/>
              </a:rPr>
              <a:t>In the next 20 minutes, I'll walk you through the context, what I set out to do, how I did it, what I found, what I recommend. Let's start with why this project exists.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r>
              <a:rPr sz="1100" dirty="0">
                <a:latin typeface="Arial"/>
              </a:rPr>
              <a:t>[~120s] Context. Tata Group HR operates across 30 companies, four functional pillars, and roughly 14 distinct HR processes. </a:t>
            </a:r>
            <a:r>
              <a:rPr lang="en-US" sz="1100" dirty="0">
                <a:latin typeface="Arial"/>
              </a:rPr>
              <a:t>I</a:t>
            </a:r>
            <a:r>
              <a:rPr sz="1100" dirty="0">
                <a:latin typeface="Arial"/>
              </a:rPr>
              <a:t> mapped all 14 at the Group level and narrowed to two verticals for deep work.</a:t>
            </a:r>
          </a:p>
          <a:p>
            <a:pPr algn="l"/>
            <a:r>
              <a:rPr sz="1100" dirty="0">
                <a:latin typeface="Arial"/>
              </a:rPr>
              <a:t>TMTC — the Tata Management Training Centre — runs over 200 learning programs a year. Expert</a:t>
            </a:r>
            <a:r>
              <a:rPr lang="en-US" sz="1100" dirty="0">
                <a:latin typeface="Arial"/>
              </a:rPr>
              <a:t>s</a:t>
            </a:r>
            <a:r>
              <a:rPr sz="1100" dirty="0">
                <a:latin typeface="Arial"/>
              </a:rPr>
              <a:t> design and deliver every one. But there's no LMS, no faculty database, no alumni tracking. Institutional memory lives in people's heads and SharePoint folders. When someone moves roles, that memory walks out the door.</a:t>
            </a:r>
          </a:p>
          <a:p>
            <a:pPr algn="l"/>
            <a:r>
              <a:rPr sz="1100" dirty="0">
                <a:latin typeface="Arial"/>
              </a:rPr>
              <a:t>TAS — the Tata Administrative Service — manages the Group's flagship leadership talent pipeline. Eight lifecycle stages, ten HR systems with zero integration across them. About 300 CVs screened by hand per campus cycle. The selection rubric is so confidential it can't be shared with any technology system — which creates an interesting design constraint we'll come back to.</a:t>
            </a:r>
          </a:p>
          <a:p>
            <a:pPr algn="l"/>
            <a:r>
              <a:rPr sz="1100" dirty="0">
                <a:latin typeface="Arial"/>
              </a:rPr>
              <a:t>The opportunity isn't to bolt AI onto today's process. It's to redesign the operating model so that AI does the first-draft work — drafting program designs, scoring candidates, matching faculty, scheduling interviews — while humans own every decision that requires judgment.</a:t>
            </a:r>
          </a:p>
          <a:p>
            <a:pPr algn="l"/>
            <a:r>
              <a:rPr sz="1100" dirty="0">
                <a:latin typeface="Arial"/>
              </a:rPr>
              <a:t>Two verticals for operating model design, plus a third proof point: a fully built AI-First Hiring Platform.</a:t>
            </a:r>
          </a:p>
          <a:p>
            <a:pPr algn="l"/>
            <a:r>
              <a:rPr sz="1100" dirty="0">
                <a:latin typeface="Arial"/>
              </a:rPr>
              <a:t>Bridge: what specifically did I set out to achieve?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r>
              <a:rPr sz="1100" dirty="0">
                <a:latin typeface="Arial"/>
              </a:rPr>
              <a:t>[~90s] Three objectives, each building on the last.</a:t>
            </a:r>
          </a:p>
          <a:p>
            <a:pPr algn="l"/>
            <a:r>
              <a:rPr sz="1100" dirty="0">
                <a:latin typeface="Arial"/>
              </a:rPr>
              <a:t>First — diagnose. Map how TMTC and TAS actually work today, not how the org chart says they should. Six interview rounds with stakeholders from program directors to coordinators. Nine detailed process maps covering Open, Flagship, and Custom programs across Demand, Build, and Deliver phases.</a:t>
            </a:r>
          </a:p>
          <a:p>
            <a:pPr algn="l"/>
            <a:r>
              <a:rPr sz="1100" dirty="0">
                <a:latin typeface="Arial"/>
              </a:rPr>
              <a:t>Second — design. Turn the diagnosis into AI-native operating models. Not "add AI to step 7" but "redesign the entire workflow." Two comprehensive strategy memos — one for TMTC, one for TAS — covering </a:t>
            </a:r>
            <a:r>
              <a:rPr lang="en-US" sz="1100" dirty="0">
                <a:latin typeface="Arial"/>
              </a:rPr>
              <a:t>36</a:t>
            </a:r>
            <a:r>
              <a:rPr sz="1100" dirty="0">
                <a:latin typeface="Arial"/>
              </a:rPr>
              <a:t> AI agents total, role workbenches for every persona, governance frameworks, decision-rights matrices, and phased roadmaps.</a:t>
            </a:r>
          </a:p>
          <a:p>
            <a:pPr algn="l"/>
            <a:r>
              <a:rPr sz="1100" dirty="0">
                <a:latin typeface="Arial"/>
              </a:rPr>
              <a:t>Third — prove. Build working prototypes that show the principle isn't just theoretical. Two interactive </a:t>
            </a:r>
            <a:r>
              <a:rPr lang="en-US" sz="1100" dirty="0">
                <a:latin typeface="Arial"/>
              </a:rPr>
              <a:t>Prototypes</a:t>
            </a:r>
            <a:r>
              <a:rPr sz="1100" dirty="0">
                <a:latin typeface="Arial"/>
              </a:rPr>
              <a:t>: the TMTC Journey Studio showing how a Program Director works with AI to design learning programs, and the AI-First Hiring Platform showing how a manager hires through a Teams chat, 8 UX flowcharts, and an architecture decision log.</a:t>
            </a:r>
          </a:p>
          <a:p>
            <a:pPr algn="l"/>
            <a:r>
              <a:rPr sz="1100" dirty="0">
                <a:latin typeface="Arial"/>
              </a:rPr>
              <a:t>Bridge: how did I approach this?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r>
              <a:rPr sz="1100">
                <a:latin typeface="Arial"/>
              </a:rPr>
              <a:t>[~90s] Four workstreams, each feeding the next.</a:t>
            </a:r>
          </a:p>
          <a:p>
            <a:pPr algn="l"/>
            <a:r>
              <a:rPr sz="1100">
                <a:latin typeface="Arial"/>
              </a:rPr>
              <a:t>Stakeholder discovery — six formal interview rounds plus a Level-2 deep dive with the TAS Lead. Every pain point quoted and attributed. The interviews revealed that the biggest problems aren't technology problems — they're operating model problems. The technology just makes them visible.</a:t>
            </a:r>
          </a:p>
          <a:p>
            <a:pPr algn="l"/>
            <a:r>
              <a:rPr sz="1100">
                <a:latin typeface="Arial"/>
              </a:rPr>
              <a:t>Process mapping — nine detailed maps covering how Open, Flagship, and Custom programs move through Demand, Build, and Deliver phases. These maps are where the bottleneck numbers come from: 200 programs, zero LMS, 20–25 days of email logistics per program.</a:t>
            </a:r>
          </a:p>
          <a:p>
            <a:pPr algn="l"/>
            <a:r>
              <a:rPr sz="1100">
                <a:latin typeface="Arial"/>
              </a:rPr>
              <a:t>Strategy synthesis — two comprehensive memos, one per vertical. TMTC: 19 AI agents across the full program lifecycle. TAS: 17 AI agents with the Sealed Rubric Vault at the centre. Both with decision-rights matrices, governance frameworks, and phased roadmaps.</a:t>
            </a:r>
          </a:p>
          <a:p>
            <a:pPr algn="l"/>
            <a:r>
              <a:rPr sz="1100">
                <a:latin typeface="Arial"/>
              </a:rPr>
              <a:t>Prototyping — not wireframes. Two fully interactive React + TypeScript applications. The TMTC Journey Studio with 8 views across 3 roles. The AI Hiring Platform with 25 interaction moments across 4 personas and 11 AI worker contracts backed by 275 automated tests.</a:t>
            </a:r>
          </a:p>
          <a:p>
            <a:pPr algn="l"/>
            <a:r>
              <a:rPr sz="1100">
                <a:latin typeface="Arial"/>
              </a:rPr>
              <a:t>Bridge: what did I find?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r>
              <a:rPr sz="1100">
                <a:latin typeface="Arial"/>
              </a:rPr>
              <a:t>[~120s] TMTC — the Tata Management Training Centre. This is where the findings get concrete.</a:t>
            </a:r>
          </a:p>
          <a:p>
            <a:pPr algn="l"/>
            <a:r>
              <a:rPr sz="1100">
                <a:latin typeface="Arial"/>
              </a:rPr>
              <a:t>200+ programs a year. Zero LMS. Zero faculty database. The centre wants five years of program dossiers searchable — today they have none in a structured format. Zero alumni tracking beyond ad hoc LinkedIn checks.</a:t>
            </a:r>
          </a:p>
          <a:p>
            <a:pPr algn="l"/>
            <a:r>
              <a:rPr sz="1100">
                <a:latin typeface="Arial"/>
              </a:rPr>
              <a:t>The quote on screen captures it perfectly: "We reuse maybe 10% of what we build." Every Custom program starts almost from scratch because there's no structured memory of what worked before, which faculty delivered well, which cohort profiles matched which learning designs.</a:t>
            </a:r>
          </a:p>
          <a:p>
            <a:pPr algn="l"/>
            <a:r>
              <a:rPr sz="1100">
                <a:latin typeface="Arial"/>
              </a:rPr>
              <a:t>Faculty selection runs on relationships and memory, not on systematic evidence. Program Coordinators — the operational backbone — spend a third of their time on logistics: chasing nominations, assembling dossiers, generating certificates. And the feedback loop is broken: Forms feedback gets collected after every program, but it doesn't systematically feed back into the next program's design or the faculty's evaluation.</a:t>
            </a:r>
          </a:p>
          <a:p>
            <a:pPr algn="l"/>
            <a:r>
              <a:rPr sz="1100">
                <a:latin typeface="Arial"/>
              </a:rPr>
              <a:t>The opportunity isn't to add AI to this process. It's to redesign the process so that every program feeds the next.</a:t>
            </a:r>
          </a:p>
          <a:p>
            <a:pPr algn="l"/>
            <a:r>
              <a:rPr sz="1100">
                <a:latin typeface="Arial"/>
              </a:rPr>
              <a:t>Bridge: what does that redesigned model look like?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r>
              <a:rPr sz="1100" dirty="0">
                <a:latin typeface="Arial"/>
              </a:rPr>
              <a:t>[~120s] The AI-native TMTC operating model. Six layers, read </a:t>
            </a:r>
            <a:r>
              <a:rPr lang="en-US" sz="1100" dirty="0">
                <a:latin typeface="Arial"/>
              </a:rPr>
              <a:t>top</a:t>
            </a:r>
            <a:r>
              <a:rPr sz="1100" dirty="0">
                <a:latin typeface="Arial"/>
              </a:rPr>
              <a:t>-</a:t>
            </a:r>
            <a:r>
              <a:rPr lang="en-US" sz="1100" dirty="0">
                <a:latin typeface="Arial"/>
              </a:rPr>
              <a:t>down</a:t>
            </a:r>
            <a:r>
              <a:rPr sz="1100" dirty="0">
                <a:latin typeface="Arial"/>
              </a:rPr>
              <a:t>.</a:t>
            </a:r>
          </a:p>
          <a:p>
            <a:pPr algn="l"/>
            <a:r>
              <a:rPr sz="1100" dirty="0">
                <a:latin typeface="Arial"/>
              </a:rPr>
              <a:t>Signal &amp; Intake captures everything — </a:t>
            </a:r>
            <a:r>
              <a:rPr lang="en-US" sz="1100" dirty="0">
                <a:latin typeface="Arial"/>
              </a:rPr>
              <a:t>group company</a:t>
            </a:r>
            <a:r>
              <a:rPr sz="1100" dirty="0">
                <a:latin typeface="Arial"/>
              </a:rPr>
              <a:t> requests, nominations, feedback, alumni career moves. The Knowledge and Data Fabric structures it into searchable, reusable institutional memory. AI Intelligence Engines — the Demand Brain, the Journey Studio, the Delivery Engine, the Experience Concierge — power the recommendations. Role Workbenches give each persona their own AI-powered surface. Human Decision Gates ensure judgment stays human at every approval point. And the Learning Loop closes the circle — every program automatically feeds insights back into the next.</a:t>
            </a:r>
          </a:p>
          <a:p>
            <a:pPr algn="l"/>
            <a:r>
              <a:rPr sz="1100" dirty="0">
                <a:latin typeface="Arial"/>
              </a:rPr>
              <a:t>Five role workbenches. The Program Director becomes an AI-assisted learning strategist — AI prepares sponsor context, drafts program architectures, shortlists faculty with ratings. The PM becomes a learning journey product owner — AI surfaces reusable content, </a:t>
            </a:r>
            <a:r>
              <a:rPr sz="1100" dirty="0" err="1">
                <a:latin typeface="Arial"/>
              </a:rPr>
              <a:t>synthesises</a:t>
            </a:r>
            <a:r>
              <a:rPr sz="1100" dirty="0">
                <a:latin typeface="Arial"/>
              </a:rPr>
              <a:t> cohort profiles, matches faculty. The PC becomes AI-orchestrated — nominations, logistics, dossiers, certificates largely automated, PC handles exceptions. Learners get a concierge. Alumni get a living profile that recommends what's next.</a:t>
            </a:r>
          </a:p>
          <a:p>
            <a:pPr algn="l"/>
            <a:r>
              <a:rPr sz="1100" dirty="0">
                <a:latin typeface="Arial"/>
              </a:rPr>
              <a:t>19 </a:t>
            </a:r>
            <a:r>
              <a:rPr sz="1100" dirty="0" err="1">
                <a:latin typeface="Arial"/>
              </a:rPr>
              <a:t>specialised</a:t>
            </a:r>
            <a:r>
              <a:rPr sz="1100" dirty="0">
                <a:latin typeface="Arial"/>
              </a:rPr>
              <a:t> agents across the full lifecycle. Each one does one thing well. Each one has a human checkpoint.</a:t>
            </a:r>
          </a:p>
          <a:p>
            <a:pPr algn="l"/>
            <a:r>
              <a:rPr sz="1100" dirty="0">
                <a:latin typeface="Arial"/>
              </a:rPr>
              <a:t>Bridge: TAS follows the same pattern — with one critical twist.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r>
              <a:rPr sz="1100">
                <a:latin typeface="Arial"/>
              </a:rPr>
              <a:t>[~120s] TAS — compressed into one slide because it follows the same six-layer pattern as TMTC, but with one critical innovation.</a:t>
            </a:r>
          </a:p>
          <a:p>
            <a:pPr algn="l"/>
            <a:r>
              <a:rPr sz="1100">
                <a:latin typeface="Arial"/>
              </a:rPr>
              <a:t>Current state: 8-stage lifecycle from demand sensing to alumni network. Ten systems, three vendor platforms, zero integration. About 300 CVs screened by hand per campus cycle. Four specific bottlenecks: vendor data dependency, manual CV screening, project-to-candidate matching during stints, and the Chroma performance management sync cycle.</a:t>
            </a:r>
          </a:p>
          <a:p>
            <a:pPr algn="l"/>
            <a:r>
              <a:rPr sz="1100">
                <a:latin typeface="Arial"/>
              </a:rPr>
              <a:t>The AI-native model: Demand, Orchestrate, Deliver, Prioritise — same layered architecture as TMTC. Six role workbenches: Recruiting Lead, Year 1–2 Lead, Panellist, Candidate, Company SPOC, and Finance. 17 specialised agents.</a:t>
            </a:r>
          </a:p>
          <a:p>
            <a:pPr algn="l"/>
            <a:r>
              <a:rPr sz="1100">
                <a:latin typeface="Arial"/>
              </a:rPr>
              <a:t>But the critical twist is the Sealed Rubric Vault — highlighted at the bottom. The TAS selection rubric is so confidential that the TAS Lead explicitly said it cannot be shared with any external system. Our design solves this: the rubric is never sent to any LLM. It's scored outside by a deterministic service. AI works around the rubric — generates candidate evidence, structures the data — but never sees the scoring weights. This is the single most important governance constraint in the entire project, and it drove the architecture of the Rubric AI Worker.</a:t>
            </a:r>
          </a:p>
          <a:p>
            <a:pPr algn="l"/>
            <a:r>
              <a:rPr sz="1100">
                <a:latin typeface="Arial"/>
              </a:rPr>
              <a:t>Bridge: let me show you what this looks like when you actually use it.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r>
              <a:rPr sz="1100" dirty="0">
                <a:latin typeface="Arial"/>
              </a:rPr>
              <a:t>[~90s] Four screenshots from two working prototypes — not wireframes, not mockups, interactive applications.</a:t>
            </a:r>
          </a:p>
          <a:p>
            <a:pPr algn="l"/>
            <a:r>
              <a:rPr sz="1100" dirty="0">
                <a:latin typeface="Arial"/>
              </a:rPr>
              <a:t>Top-left: TMTC Journey Studio — the PD Brief view. The Program Director sees sponsor context, business objectives, and audience captured for the AI to reason against. Everything the AI generates references this brief.</a:t>
            </a:r>
          </a:p>
          <a:p>
            <a:pPr algn="l"/>
            <a:r>
              <a:rPr sz="1100" dirty="0">
                <a:latin typeface="Arial"/>
              </a:rPr>
              <a:t>Top-right: the Blueprint view. AI has drafted two program architecture options — Option 1 and Option 2 — each with a structured rationale. The PD accepts, edits, or ignores at field level. Every AI suggestion carries provenance — where it came from, why it's recommended.</a:t>
            </a:r>
          </a:p>
          <a:p>
            <a:pPr algn="l"/>
            <a:r>
              <a:rPr sz="1100" dirty="0">
                <a:latin typeface="Arial"/>
              </a:rPr>
              <a:t>Bottom-left: AI Hiring Platform — the Manager Hiring Pack. The manager described a role in a Teams chat. AI generated a complete JD, a scorecard, screening criteria, alert trends, and compliance notes. One card, one approval.</a:t>
            </a:r>
          </a:p>
          <a:p>
            <a:pPr algn="l"/>
            <a:r>
              <a:rPr sz="1100" dirty="0">
                <a:latin typeface="Arial"/>
              </a:rPr>
              <a:t>Bottom-right: the Candidate Card. 84% fit score with evidence linked. Alerts bucketed into three tiers: blocking issue, review alert, information signal. The manager never reads a raw resume — they read the evidence.</a:t>
            </a:r>
          </a:p>
          <a:p>
            <a:pPr algn="l"/>
            <a:r>
              <a:rPr sz="1100" dirty="0">
                <a:latin typeface="Arial"/>
              </a:rPr>
              <a:t>Two different domains. Same principle: AI proposes with evidence, humans decide with confidence.</a:t>
            </a:r>
          </a:p>
          <a:p>
            <a:pPr algn="l"/>
            <a:r>
              <a:rPr sz="1100" dirty="0">
                <a:latin typeface="Arial"/>
              </a:rPr>
              <a:t>Bridge: the synthesis — what does this pattern tell us?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a:rPr>
              <a:t>TMTC Journey Studio — the PD Brief view. The Program Director sees sponsor context, business objectives, and audience captured for the AI to reason against. Everything the AI generates references this brief.</a:t>
            </a:r>
          </a:p>
          <a:p>
            <a:endParaRPr lang="en-IN" dirty="0"/>
          </a:p>
        </p:txBody>
      </p:sp>
    </p:spTree>
    <p:extLst>
      <p:ext uri="{BB962C8B-B14F-4D97-AF65-F5344CB8AC3E}">
        <p14:creationId xmlns:p14="http://schemas.microsoft.com/office/powerpoint/2010/main" val="35727457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algn="l"/>
            <a:r>
              <a:rPr lang="en-US" sz="1200" dirty="0">
                <a:latin typeface="Arial"/>
              </a:rPr>
              <a:t>Top-right: the Program Blueprint view. AI has drafted two program architecture options — Option 1 and Option 2 — each with a structured rationale. The PD accepts, edits, or ignores at field level. Every AI suggestion carries provenance — where it came from, why it's recommended.</a:t>
            </a:r>
          </a:p>
          <a:p>
            <a:endParaRPr lang="en-IN" dirty="0"/>
          </a:p>
        </p:txBody>
      </p:sp>
    </p:spTree>
    <p:extLst>
      <p:ext uri="{BB962C8B-B14F-4D97-AF65-F5344CB8AC3E}">
        <p14:creationId xmlns:p14="http://schemas.microsoft.com/office/powerpoint/2010/main" val="27261866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algn="l"/>
            <a:r>
              <a:rPr lang="en-US" sz="1200" dirty="0">
                <a:latin typeface="Arial"/>
              </a:rPr>
              <a:t>Bottom-left: AI Hiring Platform — the Manager Hiring Pack. The manager described a role in a Teams chat. AI generated a complete JD, a scorecard, screening criteria, alert trends, and compliance notes. One card, one approval.</a:t>
            </a:r>
          </a:p>
        </p:txBody>
      </p:sp>
    </p:spTree>
    <p:extLst>
      <p:ext uri="{BB962C8B-B14F-4D97-AF65-F5344CB8AC3E}">
        <p14:creationId xmlns:p14="http://schemas.microsoft.com/office/powerpoint/2010/main" val="23289094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algn="l"/>
            <a:r>
              <a:rPr lang="en-US" sz="1200" dirty="0">
                <a:latin typeface="Arial"/>
              </a:rPr>
              <a:t>the Candidate Card. 84% fit score with evidence linked. Alerts bucketed into three tiers: blocking issue, review alert, information signal. The manager never reads a raw resume — they read the evidence.</a:t>
            </a:r>
          </a:p>
          <a:p>
            <a:pPr algn="l"/>
            <a:r>
              <a:rPr lang="en-US" sz="1200" dirty="0">
                <a:latin typeface="Arial"/>
              </a:rPr>
              <a:t>Two different domains. Same principle: AI proposes with evidence, humans decide with confidence.</a:t>
            </a:r>
          </a:p>
          <a:p>
            <a:pPr algn="l"/>
            <a:r>
              <a:rPr lang="en-US" sz="1200" dirty="0">
                <a:latin typeface="Arial"/>
              </a:rPr>
              <a:t>Bridge: the synthesis — what does this pattern tell us?</a:t>
            </a:r>
          </a:p>
          <a:p>
            <a:endParaRPr lang="en-IN" dirty="0"/>
          </a:p>
        </p:txBody>
      </p:sp>
    </p:spTree>
    <p:extLst>
      <p:ext uri="{BB962C8B-B14F-4D97-AF65-F5344CB8AC3E}">
        <p14:creationId xmlns:p14="http://schemas.microsoft.com/office/powerpoint/2010/main" val="23256995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r>
              <a:rPr sz="1100">
                <a:latin typeface="Arial"/>
              </a:rPr>
              <a:t>[~90s] The synthesis. Three very different HR domains — learning program management, talent acquisition and selection, lateral hiring — and they all arrived at the same architecture.</a:t>
            </a:r>
          </a:p>
          <a:p>
            <a:pPr algn="l"/>
            <a:r>
              <a:rPr sz="1100">
                <a:latin typeface="Arial"/>
              </a:rPr>
              <a:t>TMTC: 19 agents, 5 role workbenches, a six-layer operating model where humans own every decision gate.</a:t>
            </a:r>
          </a:p>
          <a:p>
            <a:pPr algn="l"/>
            <a:r>
              <a:rPr sz="1100">
                <a:latin typeface="Arial"/>
              </a:rPr>
              <a:t>TAS: 17 agents, 6 role workbenches, the same six-layer model. Plus the Sealed Rubric Vault — a governance innovation that ensures the most sensitive scoring rule never touches an LLM.</a:t>
            </a:r>
          </a:p>
          <a:p>
            <a:pPr algn="l"/>
            <a:r>
              <a:rPr sz="1100">
                <a:latin typeface="Arial"/>
              </a:rPr>
              <a:t>Hiring Platform: 11 workers, 4 personas, a three-layer platform with confidence-gated handoffs. Built and tested end-to-end.</a:t>
            </a:r>
          </a:p>
          <a:p>
            <a:pPr algn="l"/>
            <a:r>
              <a:rPr sz="1100">
                <a:latin typeface="Arial"/>
              </a:rPr>
              <a:t>47 agents and workers across all three. 15 role workbenches. Three domains. One principle: AI drafts, humans decide.</a:t>
            </a:r>
          </a:p>
          <a:p>
            <a:pPr algn="l"/>
            <a:r>
              <a:rPr sz="1100">
                <a:latin typeface="Arial"/>
              </a:rPr>
              <a:t>This is the key finding: the principle holds whether you're designing a leadership program, screening TAS candidates, or scheduling an interview. The pattern generalises — any Group HR vertical can follow this model.</a:t>
            </a:r>
          </a:p>
          <a:p>
            <a:pPr algn="l"/>
            <a:r>
              <a:rPr sz="1100">
                <a:latin typeface="Arial"/>
              </a:rPr>
              <a:t>Bridge: so what do I recommend?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r>
              <a:rPr sz="1100" dirty="0">
                <a:latin typeface="Arial"/>
              </a:rPr>
              <a:t>[~120s] Recommendations. Three phases, and the sequence matters — each phase builds the data layer that the next phase needs.</a:t>
            </a:r>
          </a:p>
          <a:p>
            <a:pPr algn="l"/>
            <a:r>
              <a:rPr sz="1100" dirty="0">
                <a:latin typeface="Arial"/>
              </a:rPr>
              <a:t>Phase 1, zero to 90 days — Foundation. Clean up SharePoint. Establish a program memory template so every program from now on creates a reusable record. Architect the Rubric Vault so TAS can start automating triage without exposing the rubric. Automate the feedback reporting pipeline. Build a faculty database MVP. And run an AI safety workshop to establish governance principles.</a:t>
            </a:r>
          </a:p>
          <a:p>
            <a:pPr algn="l"/>
            <a:r>
              <a:rPr sz="1100" dirty="0">
                <a:latin typeface="Arial"/>
              </a:rPr>
              <a:t>Phase 2, three to six months — Controlled pilots. AI-assisted custom proposal drafting. A nomination tracker that chases follow-ups automatically. Faculty matching that ranks by expertise, ratings, availability, and cost. A content reuse layer over SharePoint. First candidate triage pilot with the Se</a:t>
            </a:r>
            <a:r>
              <a:rPr lang="en-US" sz="1100" dirty="0">
                <a:latin typeface="Arial"/>
              </a:rPr>
              <a:t>cured</a:t>
            </a:r>
            <a:r>
              <a:rPr sz="1100" dirty="0">
                <a:latin typeface="Arial"/>
              </a:rPr>
              <a:t> Rubric Vault. Alumni profile updates for a flagship cohort.</a:t>
            </a:r>
          </a:p>
          <a:p>
            <a:pPr algn="l"/>
            <a:r>
              <a:rPr sz="1100" dirty="0">
                <a:latin typeface="Arial"/>
              </a:rPr>
              <a:t>Phase 3, six to eighteen months — </a:t>
            </a:r>
            <a:r>
              <a:rPr sz="1100" dirty="0" err="1">
                <a:latin typeface="Arial"/>
              </a:rPr>
              <a:t>Platformisation</a:t>
            </a:r>
            <a:r>
              <a:rPr sz="1100" dirty="0">
                <a:latin typeface="Arial"/>
              </a:rPr>
              <a:t>. LMS integration. The full program asset graph. Role-based workbenches for PD, PM, PC. Cohort and sponsor intelligence. Impact dashboards. The Journey Studio at scale.</a:t>
            </a:r>
          </a:p>
          <a:p>
            <a:pPr algn="l"/>
            <a:r>
              <a:rPr sz="1100" dirty="0">
                <a:latin typeface="Arial"/>
              </a:rPr>
              <a:t>The governance framework — decision rights, what AI must never do alone, the metrics framework — runs across all three phases.</a:t>
            </a:r>
          </a:p>
          <a:p>
            <a:pPr algn="l"/>
            <a:r>
              <a:rPr sz="1100" dirty="0">
                <a:latin typeface="Arial"/>
              </a:rPr>
              <a:t>Bridge: but none of this starts without three decisions.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r>
              <a:rPr sz="1100">
                <a:latin typeface="Arial"/>
              </a:rPr>
              <a:t>[~90s] Three decisions. These aren't recommendations I can make — they're choices only the organisation can make. Everything else follows from them.</a:t>
            </a:r>
          </a:p>
          <a:p>
            <a:pPr algn="l"/>
            <a:r>
              <a:rPr sz="1100">
                <a:latin typeface="Arial"/>
              </a:rPr>
              <a:t>Decision one — source of truth before LMS. TMTC is selecting an LMS, but that's months away. Meanwhile, where does structured program and candidate data live? SharePoint with better metadata? MS Lists? This isn't a technology question — it's a commitment question. Until there's a source of truth, the data fabric has nowhere to grow.</a:t>
            </a:r>
          </a:p>
          <a:p>
            <a:pPr algn="l"/>
            <a:r>
              <a:rPr sz="1100">
                <a:latin typeface="Arial"/>
              </a:rPr>
              <a:t>Decision two — consent model. How much learner and candidate data can AI work with? Public LinkedIn? LMS history? Manager feedback? The answer determines how useful the AI can actually be. Too restrictive and it's a glorified search engine. Too permissive and you have a governance problem.</a:t>
            </a:r>
          </a:p>
          <a:p>
            <a:pPr algn="l"/>
            <a:r>
              <a:rPr sz="1100">
                <a:latin typeface="Arial"/>
              </a:rPr>
              <a:t>Decision three — governance ownership. TMTC manages its own AI governance framework, or Group HR IT takes ownership? TMTC-only is faster — they're a contained, expert team. Group HR IT is more sustainable and sets the precedent for rolling this model to other verticals.</a:t>
            </a:r>
          </a:p>
          <a:p>
            <a:pPr algn="l"/>
            <a:r>
              <a:rPr sz="1100">
                <a:latin typeface="Arial"/>
              </a:rPr>
              <a:t>Bridge: finally, what I personally took away from this project.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r>
              <a:rPr sz="1100">
                <a:latin typeface="Arial"/>
              </a:rPr>
              <a:t>[~150s] What I took away — two columns.</a:t>
            </a:r>
          </a:p>
          <a:p>
            <a:pPr algn="l"/>
            <a:r>
              <a:rPr sz="1100">
                <a:latin typeface="Arial"/>
              </a:rPr>
              <a:t>For self. First — process maps before solutions. I spent the first three weeks just mapping how things actually work. That investment changed everything I designed afterward. The bottlenecks I found in the process maps were completely different from what the org chart suggested.</a:t>
            </a:r>
          </a:p>
          <a:p>
            <a:pPr algn="l"/>
            <a:r>
              <a:rPr sz="1100">
                <a:latin typeface="Arial"/>
              </a:rPr>
              <a:t>Second — prototyping is a trust accelerator. When I showed the TMTC team a working screen where the PD could see AI-drafted program options with rationale, the conversation shifted from "will AI replace us?" to "can we try this with a real program?" Showing beats telling.</a:t>
            </a:r>
          </a:p>
          <a:p>
            <a:pPr algn="l"/>
            <a:r>
              <a:rPr sz="1100">
                <a:latin typeface="Arial"/>
              </a:rPr>
              <a:t>Third — citation discipline. The MBB approach of citing every single claim to a source forces you to separate what you know from what you assume. It's intellectually honest in a way that most strategy work isn't.</a:t>
            </a:r>
          </a:p>
          <a:p>
            <a:pPr algn="l"/>
            <a:r>
              <a:rPr sz="1100">
                <a:latin typeface="Arial"/>
              </a:rPr>
              <a:t>Fourth — stakeholder-first discovery. The single most important design decision in this entire project — the Sealed Rubric Vault — came from one sentence in one interview: "the rubric cannot be shared with any external system." That quote produced an entire architecture pattern.</a:t>
            </a:r>
          </a:p>
          <a:p>
            <a:pPr algn="l"/>
            <a:r>
              <a:rPr sz="1100">
                <a:latin typeface="Arial"/>
              </a:rPr>
              <a:t>Fifth — AI governance as a design constraint, not an afterthought. When you design for governance from day one, it becomes an enabler. When you bolt it on later, it becomes a blocker.</a:t>
            </a:r>
          </a:p>
          <a:p>
            <a:pPr algn="l"/>
            <a:r>
              <a:rPr sz="1100">
                <a:latin typeface="Arial"/>
              </a:rPr>
              <a:t>For the organisation. AI-native means redesigning the operating model, not automating the current one. The "AI drafts, humans decide" principle works across three different domains. Governance — the Rubric Vault, the confidence gates — builds trust, not bureaucracy. Data quality is the bottleneck, not AI capability. And prototype-driven engagement converts sceptics faster than strategy decks.</a:t>
            </a:r>
          </a:p>
          <a:p>
            <a:pPr algn="l"/>
            <a:r>
              <a:rPr sz="1100">
                <a:latin typeface="Arial"/>
              </a:rPr>
              <a:t>Bridge: thank you. Here's what I've delivered.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r>
              <a:rPr sz="1100" dirty="0">
                <a:latin typeface="Arial"/>
              </a:rPr>
              <a:t>[~30s] Thank you. Here's what I've delivered: a project report with inline citations across 18 sections and 4 appendices. Two interactive prototypes — both runnable on loca</a:t>
            </a:r>
            <a:r>
              <a:rPr lang="en-US" sz="1100" dirty="0">
                <a:latin typeface="Arial"/>
              </a:rPr>
              <a:t>lly</a:t>
            </a:r>
            <a:r>
              <a:rPr sz="1100" dirty="0">
                <a:latin typeface="Arial"/>
              </a:rPr>
              <a:t>. Two strategy memos — one per vertical — covering 36 AI agents with decision-rights frameworks. And a 30-slide executive deck for the CTO and CIO.</a:t>
            </a:r>
          </a:p>
          <a:p>
            <a:pPr algn="l"/>
            <a:r>
              <a:rPr sz="1100" dirty="0">
                <a:latin typeface="Arial"/>
              </a:rPr>
              <a:t>Everything is traceable. Every claim resolves to an interview quote, a process map, a slide from the discovery deck, or a screenshot from the prototype.</a:t>
            </a:r>
          </a:p>
          <a:p>
            <a:pPr algn="l"/>
            <a:r>
              <a:rPr sz="1100" dirty="0">
                <a:latin typeface="Arial"/>
              </a:rPr>
              <a:t>I'm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TextBox 7">
            <a:extLst>
              <a:ext uri="{FF2B5EF4-FFF2-40B4-BE49-F238E27FC236}">
                <a16:creationId xmlns:a16="http://schemas.microsoft.com/office/drawing/2014/main" id="{44603855-6B9C-1B6A-4912-5D258690994F}"/>
              </a:ext>
            </a:extLst>
          </p:cNvPr>
          <p:cNvSpPr txBox="1"/>
          <p:nvPr userDrawn="1">
            <p:extLst>
              <p:ext uri="{1162E1C5-73C7-4A58-AE30-91384D911F3F}">
                <p184:classification xmlns:p184="http://schemas.microsoft.com/office/powerpoint/2018/4/main" val="ftr"/>
              </p:ext>
            </p:extLst>
          </p:nvPr>
        </p:nvSpPr>
        <p:spPr>
          <a:xfrm>
            <a:off x="8108950" y="4831080"/>
            <a:ext cx="865188" cy="121920"/>
          </a:xfrm>
          <a:prstGeom prst="rect">
            <a:avLst/>
          </a:prstGeom>
        </p:spPr>
        <p:txBody>
          <a:bodyPr horzOverflow="overflow" lIns="0" tIns="0" rIns="0" bIns="0">
            <a:spAutoFit/>
          </a:bodyPr>
          <a:lstStyle/>
          <a:p>
            <a:pPr algn="l"/>
            <a:r>
              <a:rPr lang="en-IN" sz="800">
                <a:solidFill>
                  <a:srgbClr val="000000">
                    <a:alpha val="50000"/>
                  </a:srgbClr>
                </a:solidFill>
                <a:latin typeface="Aptos" panose="020B0004020202020204" pitchFamily="34" charset="0"/>
              </a:rPr>
              <a:t>Tata Sons - Internal</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65760" cy="51435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457200"/>
            <a:ext cx="7315200" cy="380480"/>
          </a:xfrm>
          <a:prstGeom prst="rect">
            <a:avLst/>
          </a:prstGeom>
          <a:noFill/>
        </p:spPr>
        <p:txBody>
          <a:bodyPr wrap="square" lIns="36000" tIns="36000" rIns="36000" bIns="36000" anchor="t">
            <a:spAutoFit/>
          </a:bodyPr>
          <a:lstStyle/>
          <a:p>
            <a:pPr algn="l"/>
            <a:r>
              <a:rPr sz="2000" b="1" dirty="0">
                <a:solidFill>
                  <a:srgbClr val="E8901E"/>
                </a:solidFill>
                <a:latin typeface="Arial"/>
              </a:rPr>
              <a:t>AI-NATIVE </a:t>
            </a:r>
            <a:r>
              <a:rPr lang="en-US" sz="2000" b="1" dirty="0">
                <a:solidFill>
                  <a:srgbClr val="E8901E"/>
                </a:solidFill>
                <a:latin typeface="Arial"/>
              </a:rPr>
              <a:t>GROUP </a:t>
            </a:r>
            <a:r>
              <a:rPr sz="2000" b="1" dirty="0">
                <a:solidFill>
                  <a:srgbClr val="E8901E"/>
                </a:solidFill>
                <a:latin typeface="Arial"/>
              </a:rPr>
              <a:t>HR</a:t>
            </a:r>
          </a:p>
        </p:txBody>
      </p:sp>
      <p:sp>
        <p:nvSpPr>
          <p:cNvPr id="5" name="TextBox 4"/>
          <p:cNvSpPr txBox="1"/>
          <p:nvPr/>
        </p:nvSpPr>
        <p:spPr>
          <a:xfrm>
            <a:off x="822960" y="914400"/>
            <a:ext cx="8229600" cy="1828800"/>
          </a:xfrm>
          <a:prstGeom prst="rect">
            <a:avLst/>
          </a:prstGeom>
          <a:noFill/>
        </p:spPr>
        <p:txBody>
          <a:bodyPr wrap="square" lIns="36000" tIns="36000" rIns="36000" bIns="36000" anchor="t">
            <a:spAutoFit/>
          </a:bodyPr>
          <a:lstStyle/>
          <a:p>
            <a:pPr algn="l"/>
            <a:r>
              <a:rPr sz="3200" b="1">
                <a:solidFill>
                  <a:srgbClr val="FFFFFF"/>
                </a:solidFill>
                <a:latin typeface="Arial"/>
              </a:rPr>
              <a:t>Internship Final Review</a:t>
            </a:r>
          </a:p>
        </p:txBody>
      </p:sp>
      <p:sp>
        <p:nvSpPr>
          <p:cNvPr id="6" name="TextBox 5"/>
          <p:cNvSpPr txBox="1"/>
          <p:nvPr/>
        </p:nvSpPr>
        <p:spPr>
          <a:xfrm>
            <a:off x="822960" y="2011680"/>
            <a:ext cx="7772400" cy="731520"/>
          </a:xfrm>
          <a:prstGeom prst="rect">
            <a:avLst/>
          </a:prstGeom>
          <a:noFill/>
        </p:spPr>
        <p:txBody>
          <a:bodyPr wrap="square" lIns="36000" tIns="36000" rIns="36000" bIns="36000" anchor="t">
            <a:spAutoFit/>
          </a:bodyPr>
          <a:lstStyle/>
          <a:p>
            <a:pPr algn="l"/>
            <a:r>
              <a:rPr sz="1400" b="0" dirty="0">
                <a:solidFill>
                  <a:srgbClr val="FFFFFF"/>
                </a:solidFill>
                <a:latin typeface="Arial"/>
              </a:rPr>
              <a:t>Designing AI-native operating models for TMTC and TAS,</a:t>
            </a:r>
          </a:p>
          <a:p>
            <a:pPr algn="l"/>
            <a:r>
              <a:rPr sz="1400" b="0" dirty="0">
                <a:solidFill>
                  <a:srgbClr val="FFFFFF"/>
                </a:solidFill>
                <a:latin typeface="Arial"/>
              </a:rPr>
              <a:t>and building an AI-First Hiring Platform from scratch.</a:t>
            </a:r>
          </a:p>
        </p:txBody>
      </p:sp>
      <p:sp>
        <p:nvSpPr>
          <p:cNvPr id="7" name="TextBox 6"/>
          <p:cNvSpPr txBox="1"/>
          <p:nvPr/>
        </p:nvSpPr>
        <p:spPr>
          <a:xfrm>
            <a:off x="822960" y="3931920"/>
            <a:ext cx="6400800" cy="211203"/>
          </a:xfrm>
          <a:prstGeom prst="rect">
            <a:avLst/>
          </a:prstGeom>
          <a:noFill/>
        </p:spPr>
        <p:txBody>
          <a:bodyPr wrap="square" lIns="36000" tIns="36000" rIns="36000" bIns="36000" anchor="t">
            <a:spAutoFit/>
          </a:bodyPr>
          <a:lstStyle/>
          <a:p>
            <a:pPr algn="l"/>
            <a:r>
              <a:rPr sz="900" b="1" dirty="0">
                <a:solidFill>
                  <a:srgbClr val="E8901E"/>
                </a:solidFill>
                <a:latin typeface="Arial"/>
              </a:rPr>
              <a:t>PRESENTED BY  ·  Nirmit</a:t>
            </a:r>
            <a:r>
              <a:rPr lang="en-US" sz="900" b="1" dirty="0">
                <a:solidFill>
                  <a:srgbClr val="E8901E"/>
                </a:solidFill>
                <a:latin typeface="Arial"/>
              </a:rPr>
              <a:t> Shah , Tata Sons Group Digital</a:t>
            </a:r>
            <a:endParaRPr sz="900" b="1" dirty="0">
              <a:solidFill>
                <a:srgbClr val="E8901E"/>
              </a:solidFill>
              <a:latin typeface="Arial"/>
            </a:endParaRPr>
          </a:p>
        </p:txBody>
      </p:sp>
      <p:sp>
        <p:nvSpPr>
          <p:cNvPr id="8" name="TextBox 7"/>
          <p:cNvSpPr txBox="1"/>
          <p:nvPr/>
        </p:nvSpPr>
        <p:spPr>
          <a:xfrm>
            <a:off x="822960" y="4160520"/>
            <a:ext cx="6400800" cy="211203"/>
          </a:xfrm>
          <a:prstGeom prst="rect">
            <a:avLst/>
          </a:prstGeom>
          <a:noFill/>
        </p:spPr>
        <p:txBody>
          <a:bodyPr wrap="square" lIns="36000" tIns="36000" rIns="36000" bIns="36000" anchor="t">
            <a:spAutoFit/>
          </a:bodyPr>
          <a:lstStyle/>
          <a:p>
            <a:pPr algn="l"/>
            <a:r>
              <a:rPr sz="900" b="0" dirty="0">
                <a:solidFill>
                  <a:srgbClr val="FFFFFF"/>
                </a:solidFill>
                <a:latin typeface="Arial"/>
              </a:rPr>
              <a:t>May 2026</a:t>
            </a:r>
          </a:p>
        </p:txBody>
      </p:sp>
      <p:sp>
        <p:nvSpPr>
          <p:cNvPr id="10" name="TextBox 9"/>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1 / 1</a:t>
            </a:r>
            <a:r>
              <a:rPr lang="en-US" sz="800" dirty="0">
                <a:solidFill>
                  <a:srgbClr val="999999"/>
                </a:solidFill>
                <a:latin typeface="Arial"/>
              </a:rPr>
              <a:t>1</a:t>
            </a:r>
            <a:endParaRPr sz="800" b="0" dirty="0">
              <a:solidFill>
                <a:srgbClr val="999999"/>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35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9700"/>
            <a:ext cx="8229600" cy="688256"/>
          </a:xfrm>
          <a:prstGeom prst="rect">
            <a:avLst/>
          </a:prstGeom>
          <a:noFill/>
        </p:spPr>
        <p:txBody>
          <a:bodyPr wrap="square" lIns="36000" tIns="36000" rIns="36000" bIns="36000" anchor="t">
            <a:spAutoFit/>
          </a:bodyPr>
          <a:lstStyle/>
          <a:p>
            <a:pPr algn="l"/>
            <a:r>
              <a:rPr sz="2000" b="1" dirty="0">
                <a:solidFill>
                  <a:srgbClr val="001B5B"/>
                </a:solidFill>
                <a:latin typeface="Arial"/>
              </a:rPr>
              <a:t>Tata Group HR runs on expert humans and manual rails</a:t>
            </a:r>
            <a:br>
              <a:rPr lang="en-US" sz="2000" b="1" dirty="0">
                <a:solidFill>
                  <a:srgbClr val="001B5B"/>
                </a:solidFill>
                <a:latin typeface="Arial"/>
              </a:rPr>
            </a:br>
            <a:r>
              <a:rPr sz="2000" b="1" dirty="0">
                <a:solidFill>
                  <a:srgbClr val="001B5B"/>
                </a:solidFill>
                <a:latin typeface="Arial"/>
              </a:rPr>
              <a:t>AI can </a:t>
            </a:r>
            <a:r>
              <a:rPr lang="en-US" sz="2000" b="1" dirty="0">
                <a:solidFill>
                  <a:srgbClr val="001B5B"/>
                </a:solidFill>
                <a:latin typeface="Arial"/>
              </a:rPr>
              <a:t>help </a:t>
            </a:r>
            <a:r>
              <a:rPr sz="2000" b="1" dirty="0">
                <a:solidFill>
                  <a:srgbClr val="001B5B"/>
                </a:solidFill>
                <a:latin typeface="Arial"/>
              </a:rPr>
              <a:t>change that</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a:rPr>
              <a:t>AI-NATIVE </a:t>
            </a:r>
            <a:r>
              <a:rPr lang="en-US" sz="800" b="0" dirty="0">
                <a:solidFill>
                  <a:srgbClr val="999999"/>
                </a:solidFill>
                <a:latin typeface="Arial"/>
              </a:rPr>
              <a:t>GROUP </a:t>
            </a:r>
            <a:r>
              <a:rPr sz="800" b="0" dirty="0">
                <a:solidFill>
                  <a:srgbClr val="999999"/>
                </a:solidFill>
                <a:latin typeface="Arial"/>
              </a:rPr>
              <a:t>HR · PANEL PRESENTATION</a:t>
            </a:r>
          </a:p>
        </p:txBody>
      </p:sp>
      <p:sp>
        <p:nvSpPr>
          <p:cNvPr id="6" name="TextBox 5"/>
          <p:cNvSpPr txBox="1"/>
          <p:nvPr/>
        </p:nvSpPr>
        <p:spPr>
          <a:xfrm>
            <a:off x="457200" y="841248"/>
            <a:ext cx="2743200" cy="228600"/>
          </a:xfrm>
          <a:prstGeom prst="rect">
            <a:avLst/>
          </a:prstGeom>
          <a:noFill/>
        </p:spPr>
        <p:txBody>
          <a:bodyPr wrap="square" lIns="36000" tIns="36000" rIns="36000" bIns="36000" anchor="t">
            <a:spAutoFit/>
          </a:bodyPr>
          <a:lstStyle/>
          <a:p>
            <a:pPr algn="l"/>
            <a:r>
              <a:rPr sz="800" b="1">
                <a:solidFill>
                  <a:srgbClr val="E8901E"/>
                </a:solidFill>
                <a:latin typeface="Arial"/>
              </a:rPr>
              <a:t>CONTEXT</a:t>
            </a:r>
          </a:p>
        </p:txBody>
      </p:sp>
      <p:sp>
        <p:nvSpPr>
          <p:cNvPr id="7" name="Rectangle 6"/>
          <p:cNvSpPr/>
          <p:nvPr/>
        </p:nvSpPr>
        <p:spPr>
          <a:xfrm>
            <a:off x="457200" y="1051560"/>
            <a:ext cx="4114800" cy="10058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097280"/>
            <a:ext cx="914400" cy="457200"/>
          </a:xfrm>
          <a:prstGeom prst="rect">
            <a:avLst/>
          </a:prstGeom>
          <a:noFill/>
        </p:spPr>
        <p:txBody>
          <a:bodyPr wrap="square" lIns="36000" tIns="36000" rIns="36000" bIns="36000" anchor="t">
            <a:spAutoFit/>
          </a:bodyPr>
          <a:lstStyle/>
          <a:p>
            <a:pPr algn="l"/>
            <a:r>
              <a:rPr sz="2800" b="1" dirty="0">
                <a:solidFill>
                  <a:srgbClr val="E8901E"/>
                </a:solidFill>
                <a:latin typeface="Arial"/>
              </a:rPr>
              <a:t>200+</a:t>
            </a:r>
          </a:p>
        </p:txBody>
      </p:sp>
      <p:sp>
        <p:nvSpPr>
          <p:cNvPr id="9" name="TextBox 8"/>
          <p:cNvSpPr txBox="1"/>
          <p:nvPr/>
        </p:nvSpPr>
        <p:spPr>
          <a:xfrm>
            <a:off x="1554480" y="1225550"/>
            <a:ext cx="2743200" cy="241980"/>
          </a:xfrm>
          <a:prstGeom prst="rect">
            <a:avLst/>
          </a:prstGeom>
          <a:noFill/>
        </p:spPr>
        <p:txBody>
          <a:bodyPr wrap="square" lIns="36000" tIns="36000" rIns="36000" bIns="36000" anchor="t">
            <a:spAutoFit/>
          </a:bodyPr>
          <a:lstStyle/>
          <a:p>
            <a:pPr algn="l"/>
            <a:r>
              <a:rPr sz="1100" b="0" dirty="0">
                <a:solidFill>
                  <a:srgbClr val="272727"/>
                </a:solidFill>
                <a:latin typeface="Arial"/>
              </a:rPr>
              <a:t>learning programs</a:t>
            </a:r>
            <a:r>
              <a:rPr lang="en-US" sz="1100" b="0" dirty="0">
                <a:solidFill>
                  <a:srgbClr val="272727"/>
                </a:solidFill>
                <a:latin typeface="Arial"/>
              </a:rPr>
              <a:t> </a:t>
            </a:r>
            <a:r>
              <a:rPr sz="1100" b="0" dirty="0">
                <a:solidFill>
                  <a:srgbClr val="272727"/>
                </a:solidFill>
                <a:latin typeface="Arial"/>
              </a:rPr>
              <a:t>run annually by TMTC</a:t>
            </a:r>
          </a:p>
        </p:txBody>
      </p:sp>
      <p:sp>
        <p:nvSpPr>
          <p:cNvPr id="10" name="TextBox 9"/>
          <p:cNvSpPr txBox="1"/>
          <p:nvPr/>
        </p:nvSpPr>
        <p:spPr>
          <a:xfrm>
            <a:off x="1554480" y="1645920"/>
            <a:ext cx="2743200" cy="226591"/>
          </a:xfrm>
          <a:prstGeom prst="rect">
            <a:avLst/>
          </a:prstGeom>
          <a:noFill/>
        </p:spPr>
        <p:txBody>
          <a:bodyPr wrap="square" lIns="36000" tIns="36000" rIns="36000" bIns="36000" anchor="t">
            <a:spAutoFit/>
          </a:bodyPr>
          <a:lstStyle/>
          <a:p>
            <a:pPr algn="l"/>
            <a:r>
              <a:rPr lang="en-US" sz="1000" dirty="0">
                <a:solidFill>
                  <a:srgbClr val="999999"/>
                </a:solidFill>
                <a:latin typeface="Arial"/>
              </a:rPr>
              <a:t>No </a:t>
            </a:r>
            <a:r>
              <a:rPr sz="1000" b="0" dirty="0">
                <a:solidFill>
                  <a:srgbClr val="999999"/>
                </a:solidFill>
                <a:latin typeface="Arial"/>
              </a:rPr>
              <a:t>LMS · </a:t>
            </a:r>
            <a:r>
              <a:rPr lang="en-US" sz="1000" dirty="0">
                <a:solidFill>
                  <a:srgbClr val="999999"/>
                </a:solidFill>
                <a:latin typeface="Arial"/>
              </a:rPr>
              <a:t>No</a:t>
            </a:r>
            <a:r>
              <a:rPr sz="1000" b="0" dirty="0">
                <a:solidFill>
                  <a:srgbClr val="999999"/>
                </a:solidFill>
                <a:latin typeface="Arial"/>
              </a:rPr>
              <a:t> faculty database</a:t>
            </a:r>
          </a:p>
        </p:txBody>
      </p:sp>
      <p:sp>
        <p:nvSpPr>
          <p:cNvPr id="11" name="Rectangle 10"/>
          <p:cNvSpPr/>
          <p:nvPr/>
        </p:nvSpPr>
        <p:spPr>
          <a:xfrm>
            <a:off x="457200" y="2194560"/>
            <a:ext cx="4114800" cy="10058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2240280"/>
            <a:ext cx="914400" cy="457200"/>
          </a:xfrm>
          <a:prstGeom prst="rect">
            <a:avLst/>
          </a:prstGeom>
          <a:noFill/>
        </p:spPr>
        <p:txBody>
          <a:bodyPr wrap="square" lIns="36000" tIns="36000" rIns="36000" bIns="36000" anchor="t">
            <a:spAutoFit/>
          </a:bodyPr>
          <a:lstStyle/>
          <a:p>
            <a:pPr algn="l"/>
            <a:r>
              <a:rPr sz="2800" b="1">
                <a:solidFill>
                  <a:srgbClr val="E8901E"/>
                </a:solidFill>
                <a:latin typeface="Arial"/>
              </a:rPr>
              <a:t>10</a:t>
            </a:r>
          </a:p>
        </p:txBody>
      </p:sp>
      <p:sp>
        <p:nvSpPr>
          <p:cNvPr id="13" name="TextBox 12"/>
          <p:cNvSpPr txBox="1"/>
          <p:nvPr/>
        </p:nvSpPr>
        <p:spPr>
          <a:xfrm>
            <a:off x="1554480" y="2362200"/>
            <a:ext cx="2743200" cy="241980"/>
          </a:xfrm>
          <a:prstGeom prst="rect">
            <a:avLst/>
          </a:prstGeom>
          <a:noFill/>
        </p:spPr>
        <p:txBody>
          <a:bodyPr wrap="square" lIns="36000" tIns="36000" rIns="36000" bIns="36000" anchor="t">
            <a:spAutoFit/>
          </a:bodyPr>
          <a:lstStyle/>
          <a:p>
            <a:pPr algn="l"/>
            <a:r>
              <a:rPr sz="1100" b="0" dirty="0">
                <a:solidFill>
                  <a:srgbClr val="272727"/>
                </a:solidFill>
                <a:latin typeface="Arial"/>
              </a:rPr>
              <a:t>HR systems across </a:t>
            </a:r>
            <a:r>
              <a:rPr lang="en-US" sz="1100" dirty="0">
                <a:solidFill>
                  <a:srgbClr val="272727"/>
                </a:solidFill>
                <a:latin typeface="Arial"/>
              </a:rPr>
              <a:t>Group HR</a:t>
            </a:r>
            <a:endParaRPr sz="1100" b="0" dirty="0">
              <a:solidFill>
                <a:srgbClr val="272727"/>
              </a:solidFill>
              <a:latin typeface="Arial"/>
            </a:endParaRPr>
          </a:p>
        </p:txBody>
      </p:sp>
      <p:sp>
        <p:nvSpPr>
          <p:cNvPr id="14" name="TextBox 13"/>
          <p:cNvSpPr txBox="1"/>
          <p:nvPr/>
        </p:nvSpPr>
        <p:spPr>
          <a:xfrm>
            <a:off x="1554480" y="2788920"/>
            <a:ext cx="2743200" cy="226591"/>
          </a:xfrm>
          <a:prstGeom prst="rect">
            <a:avLst/>
          </a:prstGeom>
          <a:noFill/>
        </p:spPr>
        <p:txBody>
          <a:bodyPr wrap="square" lIns="36000" tIns="36000" rIns="36000" bIns="36000" anchor="t">
            <a:spAutoFit/>
          </a:bodyPr>
          <a:lstStyle/>
          <a:p>
            <a:pPr algn="l"/>
            <a:r>
              <a:rPr sz="1000" b="0" dirty="0">
                <a:solidFill>
                  <a:srgbClr val="999999"/>
                </a:solidFill>
                <a:latin typeface="Arial"/>
              </a:rPr>
              <a:t>Three vendor platforms · </a:t>
            </a:r>
            <a:r>
              <a:rPr lang="en-US" sz="1000" dirty="0">
                <a:solidFill>
                  <a:srgbClr val="999999"/>
                </a:solidFill>
                <a:latin typeface="Arial"/>
              </a:rPr>
              <a:t>No</a:t>
            </a:r>
            <a:r>
              <a:rPr sz="1000" b="0" dirty="0">
                <a:solidFill>
                  <a:srgbClr val="999999"/>
                </a:solidFill>
                <a:latin typeface="Arial"/>
              </a:rPr>
              <a:t> integration</a:t>
            </a:r>
          </a:p>
        </p:txBody>
      </p:sp>
      <p:sp>
        <p:nvSpPr>
          <p:cNvPr id="15" name="Rectangle 14"/>
          <p:cNvSpPr/>
          <p:nvPr/>
        </p:nvSpPr>
        <p:spPr>
          <a:xfrm>
            <a:off x="457200" y="3337560"/>
            <a:ext cx="4114800" cy="10058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3383280"/>
            <a:ext cx="914400" cy="457200"/>
          </a:xfrm>
          <a:prstGeom prst="rect">
            <a:avLst/>
          </a:prstGeom>
          <a:noFill/>
        </p:spPr>
        <p:txBody>
          <a:bodyPr wrap="square" lIns="36000" tIns="36000" rIns="36000" bIns="36000" anchor="t">
            <a:spAutoFit/>
          </a:bodyPr>
          <a:lstStyle/>
          <a:p>
            <a:pPr algn="l"/>
            <a:r>
              <a:rPr sz="2800" b="1" dirty="0">
                <a:solidFill>
                  <a:srgbClr val="E8901E"/>
                </a:solidFill>
                <a:latin typeface="Arial"/>
              </a:rPr>
              <a:t>~300</a:t>
            </a:r>
          </a:p>
        </p:txBody>
      </p:sp>
      <p:sp>
        <p:nvSpPr>
          <p:cNvPr id="17" name="TextBox 16"/>
          <p:cNvSpPr txBox="1"/>
          <p:nvPr/>
        </p:nvSpPr>
        <p:spPr>
          <a:xfrm>
            <a:off x="1554480" y="3517900"/>
            <a:ext cx="3061970" cy="241980"/>
          </a:xfrm>
          <a:prstGeom prst="rect">
            <a:avLst/>
          </a:prstGeom>
          <a:noFill/>
        </p:spPr>
        <p:txBody>
          <a:bodyPr wrap="square" lIns="36000" tIns="36000" rIns="36000" bIns="36000" anchor="t">
            <a:spAutoFit/>
          </a:bodyPr>
          <a:lstStyle/>
          <a:p>
            <a:pPr algn="l"/>
            <a:r>
              <a:rPr sz="1100" b="0" dirty="0">
                <a:solidFill>
                  <a:srgbClr val="272727"/>
                </a:solidFill>
                <a:latin typeface="Arial"/>
              </a:rPr>
              <a:t>CVs screened by hand</a:t>
            </a:r>
            <a:r>
              <a:rPr lang="en-US" sz="1100" b="0" dirty="0">
                <a:solidFill>
                  <a:srgbClr val="272727"/>
                </a:solidFill>
                <a:latin typeface="Arial"/>
              </a:rPr>
              <a:t> </a:t>
            </a:r>
            <a:r>
              <a:rPr sz="1100" b="0" dirty="0">
                <a:solidFill>
                  <a:srgbClr val="272727"/>
                </a:solidFill>
                <a:latin typeface="Arial"/>
              </a:rPr>
              <a:t>per campus</a:t>
            </a:r>
            <a:r>
              <a:rPr lang="en-US" sz="1100" b="0" dirty="0">
                <a:solidFill>
                  <a:srgbClr val="272727"/>
                </a:solidFill>
                <a:latin typeface="Arial"/>
              </a:rPr>
              <a:t> hiring</a:t>
            </a:r>
            <a:r>
              <a:rPr sz="1100" b="0" dirty="0">
                <a:solidFill>
                  <a:srgbClr val="272727"/>
                </a:solidFill>
                <a:latin typeface="Arial"/>
              </a:rPr>
              <a:t> cycle</a:t>
            </a:r>
          </a:p>
        </p:txBody>
      </p:sp>
      <p:sp>
        <p:nvSpPr>
          <p:cNvPr id="18" name="TextBox 17"/>
          <p:cNvSpPr txBox="1"/>
          <p:nvPr/>
        </p:nvSpPr>
        <p:spPr>
          <a:xfrm>
            <a:off x="1554480" y="3931920"/>
            <a:ext cx="2743200" cy="226591"/>
          </a:xfrm>
          <a:prstGeom prst="rect">
            <a:avLst/>
          </a:prstGeom>
          <a:noFill/>
        </p:spPr>
        <p:txBody>
          <a:bodyPr wrap="square" lIns="36000" tIns="36000" rIns="36000" bIns="36000" anchor="t">
            <a:spAutoFit/>
          </a:bodyPr>
          <a:lstStyle/>
          <a:p>
            <a:pPr algn="l"/>
            <a:r>
              <a:rPr sz="1000" b="0" dirty="0">
                <a:solidFill>
                  <a:srgbClr val="999999"/>
                </a:solidFill>
                <a:latin typeface="Arial"/>
              </a:rPr>
              <a:t>Manual triage · no </a:t>
            </a:r>
            <a:r>
              <a:rPr lang="en-US" sz="1000" b="0" dirty="0">
                <a:solidFill>
                  <a:srgbClr val="999999"/>
                </a:solidFill>
                <a:latin typeface="Arial"/>
              </a:rPr>
              <a:t>screening </a:t>
            </a:r>
            <a:r>
              <a:rPr sz="1000" b="0" dirty="0">
                <a:solidFill>
                  <a:srgbClr val="999999"/>
                </a:solidFill>
                <a:latin typeface="Arial"/>
              </a:rPr>
              <a:t>rubric automation</a:t>
            </a:r>
          </a:p>
        </p:txBody>
      </p:sp>
      <p:sp>
        <p:nvSpPr>
          <p:cNvPr id="19" name="Rectangle 18"/>
          <p:cNvSpPr/>
          <p:nvPr/>
        </p:nvSpPr>
        <p:spPr>
          <a:xfrm>
            <a:off x="4846320" y="1051560"/>
            <a:ext cx="3840480" cy="342900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0" y="1188720"/>
            <a:ext cx="3474720" cy="257369"/>
          </a:xfrm>
          <a:prstGeom prst="rect">
            <a:avLst/>
          </a:prstGeom>
          <a:noFill/>
        </p:spPr>
        <p:txBody>
          <a:bodyPr wrap="square" lIns="36000" tIns="36000" rIns="36000" bIns="36000" anchor="t">
            <a:spAutoFit/>
          </a:bodyPr>
          <a:lstStyle/>
          <a:p>
            <a:pPr algn="ctr"/>
            <a:r>
              <a:rPr sz="1200" b="1" dirty="0">
                <a:solidFill>
                  <a:srgbClr val="E8901E"/>
                </a:solidFill>
                <a:latin typeface="Arial"/>
              </a:rPr>
              <a:t>THE OPPORTUNITY</a:t>
            </a:r>
          </a:p>
        </p:txBody>
      </p:sp>
      <p:sp>
        <p:nvSpPr>
          <p:cNvPr id="21" name="TextBox 20"/>
          <p:cNvSpPr txBox="1"/>
          <p:nvPr/>
        </p:nvSpPr>
        <p:spPr>
          <a:xfrm>
            <a:off x="5029200" y="1645920"/>
            <a:ext cx="3474720" cy="2364750"/>
          </a:xfrm>
          <a:prstGeom prst="rect">
            <a:avLst/>
          </a:prstGeom>
          <a:noFill/>
        </p:spPr>
        <p:txBody>
          <a:bodyPr wrap="square">
            <a:spAutoFit/>
          </a:bodyPr>
          <a:lstStyle/>
          <a:p>
            <a:pPr>
              <a:spcAft>
                <a:spcPts val="800"/>
              </a:spcAft>
            </a:pPr>
            <a:r>
              <a:rPr sz="1100" b="1" dirty="0">
                <a:solidFill>
                  <a:srgbClr val="E8901E"/>
                </a:solidFill>
                <a:latin typeface="Arial"/>
              </a:rPr>
              <a:t>▸  </a:t>
            </a:r>
            <a:r>
              <a:rPr sz="1100" dirty="0">
                <a:solidFill>
                  <a:srgbClr val="FFFFFF"/>
                </a:solidFill>
                <a:latin typeface="Arial"/>
              </a:rPr>
              <a:t>Redesign the operating model</a:t>
            </a:r>
            <a:r>
              <a:rPr lang="en-US" sz="1100" dirty="0">
                <a:solidFill>
                  <a:srgbClr val="FFFFFF"/>
                </a:solidFill>
                <a:latin typeface="Arial"/>
              </a:rPr>
              <a:t>;</a:t>
            </a:r>
            <a:r>
              <a:rPr sz="1100" dirty="0">
                <a:solidFill>
                  <a:srgbClr val="FFFFFF"/>
                </a:solidFill>
                <a:latin typeface="Arial"/>
              </a:rPr>
              <a:t> not bolt AI onto today's process</a:t>
            </a:r>
          </a:p>
          <a:p>
            <a:pPr>
              <a:spcAft>
                <a:spcPts val="800"/>
              </a:spcAft>
            </a:pPr>
            <a:r>
              <a:rPr sz="1100" b="1" dirty="0">
                <a:solidFill>
                  <a:srgbClr val="E8901E"/>
                </a:solidFill>
                <a:latin typeface="Arial"/>
              </a:rPr>
              <a:t>▸  </a:t>
            </a:r>
            <a:r>
              <a:rPr sz="1100" dirty="0">
                <a:solidFill>
                  <a:srgbClr val="FFFFFF"/>
                </a:solidFill>
                <a:latin typeface="Arial"/>
              </a:rPr>
              <a:t>AI handles first-draft work; humans own every decision gate</a:t>
            </a:r>
          </a:p>
          <a:p>
            <a:pPr>
              <a:spcAft>
                <a:spcPts val="800"/>
              </a:spcAft>
            </a:pPr>
            <a:r>
              <a:rPr sz="1100" b="1" dirty="0">
                <a:solidFill>
                  <a:srgbClr val="E8901E"/>
                </a:solidFill>
                <a:latin typeface="Arial"/>
              </a:rPr>
              <a:t>▸  </a:t>
            </a:r>
            <a:r>
              <a:rPr sz="1100" dirty="0">
                <a:solidFill>
                  <a:srgbClr val="FFFFFF"/>
                </a:solidFill>
                <a:latin typeface="Arial"/>
              </a:rPr>
              <a:t>Institutional intelligence compounds across programs and</a:t>
            </a:r>
            <a:r>
              <a:rPr lang="en-US" sz="1100" dirty="0">
                <a:solidFill>
                  <a:srgbClr val="FFFFFF"/>
                </a:solidFill>
                <a:latin typeface="Arial"/>
              </a:rPr>
              <a:t> hiring</a:t>
            </a:r>
            <a:r>
              <a:rPr sz="1100" dirty="0">
                <a:solidFill>
                  <a:srgbClr val="FFFFFF"/>
                </a:solidFill>
                <a:latin typeface="Arial"/>
              </a:rPr>
              <a:t> cycles</a:t>
            </a:r>
          </a:p>
          <a:p>
            <a:pPr>
              <a:spcAft>
                <a:spcPts val="800"/>
              </a:spcAft>
            </a:pPr>
            <a:r>
              <a:rPr sz="1100" b="1" dirty="0">
                <a:solidFill>
                  <a:srgbClr val="E8901E"/>
                </a:solidFill>
                <a:latin typeface="Arial"/>
              </a:rPr>
              <a:t>▸  </a:t>
            </a:r>
            <a:r>
              <a:rPr sz="1100" dirty="0">
                <a:solidFill>
                  <a:srgbClr val="FFFFFF"/>
                </a:solidFill>
                <a:latin typeface="Arial"/>
              </a:rPr>
              <a:t>Tw</a:t>
            </a:r>
            <a:r>
              <a:rPr lang="en-US" sz="1100" dirty="0">
                <a:solidFill>
                  <a:srgbClr val="FFFFFF"/>
                </a:solidFill>
                <a:latin typeface="Arial"/>
              </a:rPr>
              <a:t>o</a:t>
            </a:r>
            <a:r>
              <a:rPr sz="1100" dirty="0">
                <a:solidFill>
                  <a:srgbClr val="FFFFFF"/>
                </a:solidFill>
                <a:latin typeface="Arial"/>
              </a:rPr>
              <a:t> verticals chosen</a:t>
            </a:r>
            <a:r>
              <a:rPr lang="en-US" sz="1100" dirty="0">
                <a:solidFill>
                  <a:srgbClr val="FFFFFF"/>
                </a:solidFill>
                <a:latin typeface="Arial"/>
              </a:rPr>
              <a:t> for deep-dive</a:t>
            </a:r>
            <a:r>
              <a:rPr sz="1100" dirty="0">
                <a:solidFill>
                  <a:srgbClr val="FFFFFF"/>
                </a:solidFill>
                <a:latin typeface="Arial"/>
              </a:rPr>
              <a:t>: TMTC (learning</a:t>
            </a:r>
            <a:r>
              <a:rPr lang="en-US" sz="1100" dirty="0">
                <a:solidFill>
                  <a:srgbClr val="FFFFFF"/>
                </a:solidFill>
                <a:latin typeface="Arial"/>
              </a:rPr>
              <a:t> &amp; development</a:t>
            </a:r>
            <a:r>
              <a:rPr sz="1100" dirty="0">
                <a:solidFill>
                  <a:srgbClr val="FFFFFF"/>
                </a:solidFill>
                <a:latin typeface="Arial"/>
              </a:rPr>
              <a:t>) and TAS (talent acquisition)</a:t>
            </a:r>
          </a:p>
          <a:p>
            <a:pPr>
              <a:spcAft>
                <a:spcPts val="800"/>
              </a:spcAft>
            </a:pPr>
            <a:r>
              <a:rPr sz="1100" b="1" dirty="0">
                <a:solidFill>
                  <a:srgbClr val="E8901E"/>
                </a:solidFill>
                <a:latin typeface="Arial"/>
              </a:rPr>
              <a:t>▸  </a:t>
            </a:r>
            <a:r>
              <a:rPr sz="1100" dirty="0">
                <a:solidFill>
                  <a:srgbClr val="FFFFFF"/>
                </a:solidFill>
                <a:latin typeface="Arial"/>
              </a:rPr>
              <a:t>Plus a third proof point: a hiring platform built from scratch</a:t>
            </a:r>
            <a:r>
              <a:rPr lang="en-US" sz="1100" dirty="0">
                <a:solidFill>
                  <a:srgbClr val="FFFFFF"/>
                </a:solidFill>
                <a:latin typeface="Arial"/>
              </a:rPr>
              <a:t> with help of Tata Comms (Commotion team)</a:t>
            </a:r>
            <a:endParaRPr sz="1100" dirty="0">
              <a:solidFill>
                <a:srgbClr val="FFFFFF"/>
              </a:solidFill>
              <a:latin typeface="Arial"/>
            </a:endParaRPr>
          </a:p>
        </p:txBody>
      </p:sp>
      <p:sp>
        <p:nvSpPr>
          <p:cNvPr id="22" name="TextBox 21"/>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2 / </a:t>
            </a:r>
            <a:r>
              <a:rPr lang="en-US" sz="800" b="0" dirty="0">
                <a:solidFill>
                  <a:srgbClr val="999999"/>
                </a:solidFill>
                <a:latin typeface="Arial"/>
              </a:rPr>
              <a:t>11</a:t>
            </a:r>
            <a:endParaRPr sz="800" b="0" dirty="0">
              <a:solidFill>
                <a:srgbClr val="999999"/>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8229600" cy="380480"/>
          </a:xfrm>
          <a:prstGeom prst="rect">
            <a:avLst/>
          </a:prstGeom>
          <a:noFill/>
        </p:spPr>
        <p:txBody>
          <a:bodyPr wrap="square" lIns="36000" tIns="36000" rIns="36000" bIns="36000" anchor="t">
            <a:spAutoFit/>
          </a:bodyPr>
          <a:lstStyle/>
          <a:p>
            <a:pPr algn="l"/>
            <a:r>
              <a:rPr sz="2000" b="1" dirty="0">
                <a:solidFill>
                  <a:srgbClr val="001B5B"/>
                </a:solidFill>
                <a:latin typeface="Arial"/>
              </a:rPr>
              <a:t>Three objectives </a:t>
            </a:r>
            <a:r>
              <a:rPr lang="en-US" sz="2000" b="1" dirty="0">
                <a:solidFill>
                  <a:srgbClr val="001B5B"/>
                </a:solidFill>
                <a:latin typeface="Arial"/>
              </a:rPr>
              <a:t>-</a:t>
            </a:r>
            <a:r>
              <a:rPr sz="2000" b="1" dirty="0">
                <a:solidFill>
                  <a:srgbClr val="001B5B"/>
                </a:solidFill>
                <a:latin typeface="Arial"/>
              </a:rPr>
              <a:t> diagnose, design, prove</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a:rPr>
              <a:t>AI-NATIVE </a:t>
            </a:r>
            <a:r>
              <a:rPr lang="en-US" sz="800" b="0" dirty="0">
                <a:solidFill>
                  <a:srgbClr val="999999"/>
                </a:solidFill>
                <a:latin typeface="Arial"/>
              </a:rPr>
              <a:t>GROUP </a:t>
            </a:r>
            <a:r>
              <a:rPr sz="800" b="0" dirty="0">
                <a:solidFill>
                  <a:srgbClr val="999999"/>
                </a:solidFill>
                <a:latin typeface="Arial"/>
              </a:rPr>
              <a:t>HR · PANEL PRESENTATION</a:t>
            </a:r>
          </a:p>
        </p:txBody>
      </p:sp>
      <p:sp>
        <p:nvSpPr>
          <p:cNvPr id="6" name="TextBox 5"/>
          <p:cNvSpPr txBox="1"/>
          <p:nvPr/>
        </p:nvSpPr>
        <p:spPr>
          <a:xfrm>
            <a:off x="457200" y="841248"/>
            <a:ext cx="2743200" cy="228600"/>
          </a:xfrm>
          <a:prstGeom prst="rect">
            <a:avLst/>
          </a:prstGeom>
          <a:noFill/>
        </p:spPr>
        <p:txBody>
          <a:bodyPr wrap="square" lIns="36000" tIns="36000" rIns="36000" bIns="36000" anchor="t">
            <a:spAutoFit/>
          </a:bodyPr>
          <a:lstStyle/>
          <a:p>
            <a:pPr algn="l"/>
            <a:r>
              <a:rPr sz="800" b="1">
                <a:solidFill>
                  <a:srgbClr val="E8901E"/>
                </a:solidFill>
                <a:latin typeface="Arial"/>
              </a:rPr>
              <a:t>OBJECTIVES</a:t>
            </a:r>
          </a:p>
        </p:txBody>
      </p:sp>
      <p:sp>
        <p:nvSpPr>
          <p:cNvPr id="7" name="Rectangle 6"/>
          <p:cNvSpPr/>
          <p:nvPr/>
        </p:nvSpPr>
        <p:spPr>
          <a:xfrm>
            <a:off x="457200" y="1051560"/>
            <a:ext cx="8229600" cy="109728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051560"/>
            <a:ext cx="640080" cy="109728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234440"/>
            <a:ext cx="457200" cy="457200"/>
          </a:xfrm>
          <a:prstGeom prst="rect">
            <a:avLst/>
          </a:prstGeom>
          <a:noFill/>
        </p:spPr>
        <p:txBody>
          <a:bodyPr wrap="square" lIns="36000" tIns="36000" rIns="36000" bIns="36000" anchor="t">
            <a:spAutoFit/>
          </a:bodyPr>
          <a:lstStyle/>
          <a:p>
            <a:pPr algn="ctr"/>
            <a:r>
              <a:rPr sz="2000" b="1">
                <a:solidFill>
                  <a:srgbClr val="FFFFFF"/>
                </a:solidFill>
                <a:latin typeface="Arial"/>
              </a:rPr>
              <a:t>01</a:t>
            </a:r>
          </a:p>
        </p:txBody>
      </p:sp>
      <p:sp>
        <p:nvSpPr>
          <p:cNvPr id="10" name="TextBox 9"/>
          <p:cNvSpPr txBox="1"/>
          <p:nvPr/>
        </p:nvSpPr>
        <p:spPr>
          <a:xfrm>
            <a:off x="1234440" y="1143000"/>
            <a:ext cx="1371600" cy="318924"/>
          </a:xfrm>
          <a:prstGeom prst="rect">
            <a:avLst/>
          </a:prstGeom>
          <a:noFill/>
        </p:spPr>
        <p:txBody>
          <a:bodyPr wrap="square" lIns="36000" tIns="36000" rIns="36000" bIns="36000" anchor="t">
            <a:spAutoFit/>
          </a:bodyPr>
          <a:lstStyle/>
          <a:p>
            <a:pPr algn="l"/>
            <a:r>
              <a:rPr sz="1600" b="1" dirty="0">
                <a:solidFill>
                  <a:srgbClr val="001B5B"/>
                </a:solidFill>
                <a:latin typeface="Arial"/>
              </a:rPr>
              <a:t>DIAGNOSE</a:t>
            </a:r>
          </a:p>
        </p:txBody>
      </p:sp>
      <p:sp>
        <p:nvSpPr>
          <p:cNvPr id="11" name="TextBox 10"/>
          <p:cNvSpPr txBox="1"/>
          <p:nvPr/>
        </p:nvSpPr>
        <p:spPr>
          <a:xfrm>
            <a:off x="1234440" y="1417320"/>
            <a:ext cx="7360920" cy="442035"/>
          </a:xfrm>
          <a:prstGeom prst="rect">
            <a:avLst/>
          </a:prstGeom>
          <a:noFill/>
        </p:spPr>
        <p:txBody>
          <a:bodyPr wrap="square" lIns="36000" tIns="36000" rIns="36000" bIns="36000" anchor="t">
            <a:spAutoFit/>
          </a:bodyPr>
          <a:lstStyle/>
          <a:p>
            <a:pPr algn="l"/>
            <a:r>
              <a:rPr sz="1200" b="0" dirty="0">
                <a:solidFill>
                  <a:srgbClr val="272727"/>
                </a:solidFill>
                <a:latin typeface="Arial"/>
              </a:rPr>
              <a:t>Map current-state processes, interview stakeholders, identify bottlenecks and pain points across TMTC and TAS.</a:t>
            </a:r>
          </a:p>
        </p:txBody>
      </p:sp>
      <p:sp>
        <p:nvSpPr>
          <p:cNvPr id="12" name="TextBox 11"/>
          <p:cNvSpPr txBox="1"/>
          <p:nvPr/>
        </p:nvSpPr>
        <p:spPr>
          <a:xfrm>
            <a:off x="1234440" y="1828800"/>
            <a:ext cx="6858000" cy="195814"/>
          </a:xfrm>
          <a:prstGeom prst="rect">
            <a:avLst/>
          </a:prstGeom>
          <a:noFill/>
        </p:spPr>
        <p:txBody>
          <a:bodyPr wrap="square" lIns="36000" tIns="36000" rIns="36000" bIns="36000" anchor="t">
            <a:spAutoFit/>
          </a:bodyPr>
          <a:lstStyle/>
          <a:p>
            <a:pPr algn="l"/>
            <a:r>
              <a:rPr sz="800" b="1" dirty="0">
                <a:solidFill>
                  <a:srgbClr val="E8901E"/>
                </a:solidFill>
                <a:latin typeface="Arial"/>
              </a:rPr>
              <a:t>6 interview rounds · 9 process maps</a:t>
            </a:r>
            <a:r>
              <a:rPr lang="en-US" sz="800" b="1" dirty="0">
                <a:solidFill>
                  <a:srgbClr val="E8901E"/>
                </a:solidFill>
                <a:latin typeface="Arial"/>
              </a:rPr>
              <a:t> created</a:t>
            </a:r>
            <a:r>
              <a:rPr sz="800" b="1" dirty="0">
                <a:solidFill>
                  <a:srgbClr val="E8901E"/>
                </a:solidFill>
                <a:latin typeface="Arial"/>
              </a:rPr>
              <a:t> · stakeholder quotes</a:t>
            </a:r>
          </a:p>
        </p:txBody>
      </p:sp>
      <p:sp>
        <p:nvSpPr>
          <p:cNvPr id="13" name="Rectangle 12"/>
          <p:cNvSpPr/>
          <p:nvPr/>
        </p:nvSpPr>
        <p:spPr>
          <a:xfrm>
            <a:off x="457200" y="2286000"/>
            <a:ext cx="8229600" cy="109728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2286000"/>
            <a:ext cx="640080" cy="109728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2468880"/>
            <a:ext cx="457200" cy="457200"/>
          </a:xfrm>
          <a:prstGeom prst="rect">
            <a:avLst/>
          </a:prstGeom>
          <a:noFill/>
        </p:spPr>
        <p:txBody>
          <a:bodyPr wrap="square" lIns="36000" tIns="36000" rIns="36000" bIns="36000" anchor="t">
            <a:spAutoFit/>
          </a:bodyPr>
          <a:lstStyle/>
          <a:p>
            <a:pPr algn="ctr"/>
            <a:r>
              <a:rPr sz="2000" b="1">
                <a:solidFill>
                  <a:srgbClr val="FFFFFF"/>
                </a:solidFill>
                <a:latin typeface="Arial"/>
              </a:rPr>
              <a:t>02</a:t>
            </a:r>
          </a:p>
        </p:txBody>
      </p:sp>
      <p:sp>
        <p:nvSpPr>
          <p:cNvPr id="16" name="TextBox 15"/>
          <p:cNvSpPr txBox="1"/>
          <p:nvPr/>
        </p:nvSpPr>
        <p:spPr>
          <a:xfrm>
            <a:off x="1234440" y="2377440"/>
            <a:ext cx="1371600" cy="318924"/>
          </a:xfrm>
          <a:prstGeom prst="rect">
            <a:avLst/>
          </a:prstGeom>
          <a:noFill/>
        </p:spPr>
        <p:txBody>
          <a:bodyPr wrap="square" lIns="36000" tIns="36000" rIns="36000" bIns="36000" anchor="t">
            <a:spAutoFit/>
          </a:bodyPr>
          <a:lstStyle/>
          <a:p>
            <a:pPr algn="l"/>
            <a:r>
              <a:rPr sz="1600" b="1" dirty="0">
                <a:solidFill>
                  <a:srgbClr val="001B5B"/>
                </a:solidFill>
                <a:latin typeface="Arial"/>
              </a:rPr>
              <a:t>DESIGN</a:t>
            </a:r>
          </a:p>
        </p:txBody>
      </p:sp>
      <p:sp>
        <p:nvSpPr>
          <p:cNvPr id="17" name="TextBox 16"/>
          <p:cNvSpPr txBox="1"/>
          <p:nvPr/>
        </p:nvSpPr>
        <p:spPr>
          <a:xfrm>
            <a:off x="1234440" y="2651760"/>
            <a:ext cx="7360920" cy="442035"/>
          </a:xfrm>
          <a:prstGeom prst="rect">
            <a:avLst/>
          </a:prstGeom>
          <a:noFill/>
        </p:spPr>
        <p:txBody>
          <a:bodyPr wrap="square" lIns="36000" tIns="36000" rIns="36000" bIns="36000" anchor="t">
            <a:spAutoFit/>
          </a:bodyPr>
          <a:lstStyle/>
          <a:p>
            <a:pPr algn="l"/>
            <a:r>
              <a:rPr sz="1200" b="0" dirty="0">
                <a:solidFill>
                  <a:srgbClr val="272727"/>
                </a:solidFill>
                <a:latin typeface="Arial"/>
              </a:rPr>
              <a:t>Create AI-native operating models with role workbenches, agent catalogues, governance frameworks, and implementation roadmaps.</a:t>
            </a:r>
          </a:p>
        </p:txBody>
      </p:sp>
      <p:sp>
        <p:nvSpPr>
          <p:cNvPr id="18" name="TextBox 17"/>
          <p:cNvSpPr txBox="1"/>
          <p:nvPr/>
        </p:nvSpPr>
        <p:spPr>
          <a:xfrm>
            <a:off x="1234440" y="3063240"/>
            <a:ext cx="6858000" cy="195814"/>
          </a:xfrm>
          <a:prstGeom prst="rect">
            <a:avLst/>
          </a:prstGeom>
          <a:noFill/>
        </p:spPr>
        <p:txBody>
          <a:bodyPr wrap="square" lIns="36000" tIns="36000" rIns="36000" bIns="36000" anchor="t">
            <a:spAutoFit/>
          </a:bodyPr>
          <a:lstStyle/>
          <a:p>
            <a:pPr algn="l"/>
            <a:r>
              <a:rPr sz="800" b="1" dirty="0">
                <a:solidFill>
                  <a:srgbClr val="E8901E"/>
                </a:solidFill>
                <a:latin typeface="Arial"/>
              </a:rPr>
              <a:t>2 strategy memos · </a:t>
            </a:r>
            <a:r>
              <a:rPr lang="en-US" sz="800" b="1" dirty="0">
                <a:solidFill>
                  <a:srgbClr val="E8901E"/>
                </a:solidFill>
                <a:latin typeface="Arial"/>
              </a:rPr>
              <a:t>36</a:t>
            </a:r>
            <a:r>
              <a:rPr sz="800" b="1" dirty="0">
                <a:solidFill>
                  <a:srgbClr val="E8901E"/>
                </a:solidFill>
                <a:latin typeface="Arial"/>
              </a:rPr>
              <a:t> AI agents designed · decision-rights matrix</a:t>
            </a:r>
          </a:p>
        </p:txBody>
      </p:sp>
      <p:sp>
        <p:nvSpPr>
          <p:cNvPr id="19" name="Rectangle 18"/>
          <p:cNvSpPr/>
          <p:nvPr/>
        </p:nvSpPr>
        <p:spPr>
          <a:xfrm>
            <a:off x="457200" y="3520440"/>
            <a:ext cx="8229600" cy="109728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57200" y="3520440"/>
            <a:ext cx="640080" cy="109728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 y="3703320"/>
            <a:ext cx="457200" cy="457200"/>
          </a:xfrm>
          <a:prstGeom prst="rect">
            <a:avLst/>
          </a:prstGeom>
          <a:noFill/>
        </p:spPr>
        <p:txBody>
          <a:bodyPr wrap="square" lIns="36000" tIns="36000" rIns="36000" bIns="36000" anchor="t">
            <a:spAutoFit/>
          </a:bodyPr>
          <a:lstStyle/>
          <a:p>
            <a:pPr algn="ctr"/>
            <a:r>
              <a:rPr sz="2000" b="1">
                <a:solidFill>
                  <a:srgbClr val="FFFFFF"/>
                </a:solidFill>
                <a:latin typeface="Arial"/>
              </a:rPr>
              <a:t>03</a:t>
            </a:r>
          </a:p>
        </p:txBody>
      </p:sp>
      <p:sp>
        <p:nvSpPr>
          <p:cNvPr id="22" name="TextBox 21"/>
          <p:cNvSpPr txBox="1"/>
          <p:nvPr/>
        </p:nvSpPr>
        <p:spPr>
          <a:xfrm>
            <a:off x="1234440" y="3611880"/>
            <a:ext cx="1371600" cy="318924"/>
          </a:xfrm>
          <a:prstGeom prst="rect">
            <a:avLst/>
          </a:prstGeom>
          <a:noFill/>
        </p:spPr>
        <p:txBody>
          <a:bodyPr wrap="square" lIns="36000" tIns="36000" rIns="36000" bIns="36000" anchor="t">
            <a:spAutoFit/>
          </a:bodyPr>
          <a:lstStyle/>
          <a:p>
            <a:pPr algn="l"/>
            <a:r>
              <a:rPr sz="1600" b="1" dirty="0">
                <a:solidFill>
                  <a:srgbClr val="001B5B"/>
                </a:solidFill>
                <a:latin typeface="Arial"/>
              </a:rPr>
              <a:t>PROVE</a:t>
            </a:r>
          </a:p>
        </p:txBody>
      </p:sp>
      <p:sp>
        <p:nvSpPr>
          <p:cNvPr id="23" name="TextBox 22"/>
          <p:cNvSpPr txBox="1"/>
          <p:nvPr/>
        </p:nvSpPr>
        <p:spPr>
          <a:xfrm>
            <a:off x="1234440" y="3987800"/>
            <a:ext cx="7360920" cy="257369"/>
          </a:xfrm>
          <a:prstGeom prst="rect">
            <a:avLst/>
          </a:prstGeom>
          <a:noFill/>
        </p:spPr>
        <p:txBody>
          <a:bodyPr wrap="square" lIns="36000" tIns="36000" rIns="36000" bIns="36000" anchor="t">
            <a:spAutoFit/>
          </a:bodyPr>
          <a:lstStyle/>
          <a:p>
            <a:pPr algn="l"/>
            <a:r>
              <a:rPr sz="1200" b="0" dirty="0">
                <a:solidFill>
                  <a:srgbClr val="272727"/>
                </a:solidFill>
                <a:latin typeface="Arial"/>
              </a:rPr>
              <a:t>Build working prototypes that demonstrate the principle — AI drafts, humans decide — at interactive depth.</a:t>
            </a:r>
          </a:p>
        </p:txBody>
      </p:sp>
      <p:sp>
        <p:nvSpPr>
          <p:cNvPr id="24" name="TextBox 23"/>
          <p:cNvSpPr txBox="1"/>
          <p:nvPr/>
        </p:nvSpPr>
        <p:spPr>
          <a:xfrm>
            <a:off x="1234440" y="4297680"/>
            <a:ext cx="6858000" cy="195814"/>
          </a:xfrm>
          <a:prstGeom prst="rect">
            <a:avLst/>
          </a:prstGeom>
          <a:noFill/>
        </p:spPr>
        <p:txBody>
          <a:bodyPr wrap="square" lIns="36000" tIns="36000" rIns="36000" bIns="36000" anchor="t">
            <a:spAutoFit/>
          </a:bodyPr>
          <a:lstStyle/>
          <a:p>
            <a:pPr algn="l"/>
            <a:r>
              <a:rPr sz="800" b="1" dirty="0">
                <a:solidFill>
                  <a:srgbClr val="E8901E"/>
                </a:solidFill>
                <a:latin typeface="Arial"/>
              </a:rPr>
              <a:t>2</a:t>
            </a:r>
            <a:r>
              <a:rPr lang="en-US" sz="800" b="1" dirty="0">
                <a:solidFill>
                  <a:srgbClr val="E8901E"/>
                </a:solidFill>
                <a:latin typeface="Arial"/>
              </a:rPr>
              <a:t> UI</a:t>
            </a:r>
            <a:r>
              <a:rPr sz="800" b="1" dirty="0">
                <a:solidFill>
                  <a:srgbClr val="E8901E"/>
                </a:solidFill>
                <a:latin typeface="Arial"/>
              </a:rPr>
              <a:t> prototypes · 8 UX flowcharts</a:t>
            </a:r>
          </a:p>
        </p:txBody>
      </p:sp>
      <p:sp>
        <p:nvSpPr>
          <p:cNvPr id="25" name="TextBox 24"/>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3 / 1</a:t>
            </a:r>
            <a:r>
              <a:rPr lang="en-US" sz="800" dirty="0">
                <a:solidFill>
                  <a:srgbClr val="999999"/>
                </a:solidFill>
                <a:latin typeface="Arial"/>
              </a:rPr>
              <a:t>1</a:t>
            </a:r>
            <a:endParaRPr sz="800" b="0" dirty="0">
              <a:solidFill>
                <a:srgbClr val="999999"/>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22766"/>
            <a:ext cx="8229600" cy="688256"/>
          </a:xfrm>
          <a:prstGeom prst="rect">
            <a:avLst/>
          </a:prstGeom>
          <a:noFill/>
        </p:spPr>
        <p:txBody>
          <a:bodyPr wrap="square" lIns="36000" tIns="36000" rIns="36000" bIns="36000" anchor="t">
            <a:spAutoFit/>
          </a:bodyPr>
          <a:lstStyle/>
          <a:p>
            <a:pPr algn="l"/>
            <a:r>
              <a:rPr sz="2000" b="1" dirty="0">
                <a:solidFill>
                  <a:srgbClr val="001B5B"/>
                </a:solidFill>
                <a:latin typeface="Arial"/>
              </a:rPr>
              <a:t>Six interview rounds · nine process maps · two prototypes · two strategy memos</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a:rPr>
              <a:t>AI-NATIVE </a:t>
            </a:r>
            <a:r>
              <a:rPr lang="en-US" sz="800" b="0" dirty="0">
                <a:solidFill>
                  <a:srgbClr val="999999"/>
                </a:solidFill>
                <a:latin typeface="Arial"/>
              </a:rPr>
              <a:t>GROUP </a:t>
            </a:r>
            <a:r>
              <a:rPr sz="800" b="0" dirty="0">
                <a:solidFill>
                  <a:srgbClr val="999999"/>
                </a:solidFill>
                <a:latin typeface="Arial"/>
              </a:rPr>
              <a:t>HR · PANEL PRESENTATION</a:t>
            </a:r>
          </a:p>
        </p:txBody>
      </p:sp>
      <p:sp>
        <p:nvSpPr>
          <p:cNvPr id="6" name="TextBox 5"/>
          <p:cNvSpPr txBox="1"/>
          <p:nvPr/>
        </p:nvSpPr>
        <p:spPr>
          <a:xfrm>
            <a:off x="457200" y="841248"/>
            <a:ext cx="2743200" cy="228600"/>
          </a:xfrm>
          <a:prstGeom prst="rect">
            <a:avLst/>
          </a:prstGeom>
          <a:noFill/>
        </p:spPr>
        <p:txBody>
          <a:bodyPr wrap="square" lIns="36000" tIns="36000" rIns="36000" bIns="36000" anchor="t">
            <a:spAutoFit/>
          </a:bodyPr>
          <a:lstStyle/>
          <a:p>
            <a:pPr algn="l"/>
            <a:r>
              <a:rPr sz="800" b="1">
                <a:solidFill>
                  <a:srgbClr val="E8901E"/>
                </a:solidFill>
                <a:latin typeface="Arial"/>
              </a:rPr>
              <a:t>METHODOLOGY</a:t>
            </a:r>
          </a:p>
        </p:txBody>
      </p:sp>
      <p:sp>
        <p:nvSpPr>
          <p:cNvPr id="7" name="Rectangle 6"/>
          <p:cNvSpPr/>
          <p:nvPr/>
        </p:nvSpPr>
        <p:spPr>
          <a:xfrm>
            <a:off x="457200" y="1051560"/>
            <a:ext cx="3977639" cy="16916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051560"/>
            <a:ext cx="3977639" cy="36576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097280"/>
            <a:ext cx="3703319" cy="257369"/>
          </a:xfrm>
          <a:prstGeom prst="rect">
            <a:avLst/>
          </a:prstGeom>
          <a:noFill/>
        </p:spPr>
        <p:txBody>
          <a:bodyPr wrap="square" lIns="36000" tIns="36000" rIns="36000" bIns="36000" anchor="t">
            <a:spAutoFit/>
          </a:bodyPr>
          <a:lstStyle/>
          <a:p>
            <a:pPr algn="ctr"/>
            <a:r>
              <a:rPr sz="1200" b="1" dirty="0">
                <a:solidFill>
                  <a:srgbClr val="FFFFFF"/>
                </a:solidFill>
                <a:latin typeface="Arial"/>
              </a:rPr>
              <a:t>STAKEHOLDER DISCOVERY</a:t>
            </a:r>
          </a:p>
        </p:txBody>
      </p:sp>
      <p:sp>
        <p:nvSpPr>
          <p:cNvPr id="10" name="TextBox 9"/>
          <p:cNvSpPr txBox="1"/>
          <p:nvPr/>
        </p:nvSpPr>
        <p:spPr>
          <a:xfrm>
            <a:off x="594360" y="1508760"/>
            <a:ext cx="3703319" cy="923330"/>
          </a:xfrm>
          <a:prstGeom prst="rect">
            <a:avLst/>
          </a:prstGeom>
          <a:noFill/>
        </p:spPr>
        <p:txBody>
          <a:bodyPr wrap="square">
            <a:spAutoFit/>
          </a:bodyPr>
          <a:lstStyle/>
          <a:p>
            <a:pPr>
              <a:spcAft>
                <a:spcPts val="400"/>
              </a:spcAft>
            </a:pPr>
            <a:r>
              <a:rPr sz="1100" b="1" dirty="0">
                <a:solidFill>
                  <a:srgbClr val="E8901E"/>
                </a:solidFill>
                <a:latin typeface="Arial"/>
              </a:rPr>
              <a:t>▸  </a:t>
            </a:r>
            <a:r>
              <a:rPr sz="1100" dirty="0">
                <a:solidFill>
                  <a:srgbClr val="272727"/>
                </a:solidFill>
                <a:latin typeface="Arial"/>
              </a:rPr>
              <a:t>6 interview rounds (Meeting 1–6)</a:t>
            </a:r>
          </a:p>
          <a:p>
            <a:pPr>
              <a:spcAft>
                <a:spcPts val="400"/>
              </a:spcAft>
            </a:pPr>
            <a:r>
              <a:rPr sz="1100" b="1" dirty="0">
                <a:solidFill>
                  <a:srgbClr val="E8901E"/>
                </a:solidFill>
                <a:latin typeface="Arial"/>
              </a:rPr>
              <a:t>▸  </a:t>
            </a:r>
            <a:r>
              <a:rPr sz="1100" dirty="0">
                <a:solidFill>
                  <a:srgbClr val="272727"/>
                </a:solidFill>
                <a:latin typeface="Arial"/>
              </a:rPr>
              <a:t>Level-2 deep dive with TAS Lead</a:t>
            </a:r>
          </a:p>
          <a:p>
            <a:pPr>
              <a:spcAft>
                <a:spcPts val="400"/>
              </a:spcAft>
            </a:pPr>
            <a:r>
              <a:rPr sz="1100" b="1" dirty="0">
                <a:solidFill>
                  <a:srgbClr val="E8901E"/>
                </a:solidFill>
                <a:latin typeface="Arial"/>
              </a:rPr>
              <a:t>▸  </a:t>
            </a:r>
            <a:r>
              <a:rPr sz="1100" dirty="0">
                <a:solidFill>
                  <a:srgbClr val="272727"/>
                </a:solidFill>
                <a:latin typeface="Arial"/>
              </a:rPr>
              <a:t>Voice-of-stakeholder quotes captured</a:t>
            </a:r>
          </a:p>
          <a:p>
            <a:pPr>
              <a:spcAft>
                <a:spcPts val="400"/>
              </a:spcAft>
            </a:pPr>
            <a:r>
              <a:rPr sz="1100" b="1" dirty="0">
                <a:solidFill>
                  <a:srgbClr val="E8901E"/>
                </a:solidFill>
                <a:latin typeface="Arial"/>
              </a:rPr>
              <a:t>▸  </a:t>
            </a:r>
            <a:r>
              <a:rPr sz="1100" dirty="0">
                <a:solidFill>
                  <a:srgbClr val="272727"/>
                </a:solidFill>
                <a:latin typeface="Arial"/>
              </a:rPr>
              <a:t>Pain points ranked by frequency</a:t>
            </a:r>
          </a:p>
        </p:txBody>
      </p:sp>
      <p:sp>
        <p:nvSpPr>
          <p:cNvPr id="11" name="Rectangle 10"/>
          <p:cNvSpPr/>
          <p:nvPr/>
        </p:nvSpPr>
        <p:spPr>
          <a:xfrm>
            <a:off x="4663440" y="1051560"/>
            <a:ext cx="3977639" cy="16916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663440" y="1051560"/>
            <a:ext cx="3977639" cy="36576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00600" y="1097280"/>
            <a:ext cx="3703319" cy="241980"/>
          </a:xfrm>
          <a:prstGeom prst="rect">
            <a:avLst/>
          </a:prstGeom>
          <a:noFill/>
        </p:spPr>
        <p:txBody>
          <a:bodyPr wrap="square" lIns="36000" tIns="36000" rIns="36000" bIns="36000" anchor="t">
            <a:spAutoFit/>
          </a:bodyPr>
          <a:lstStyle/>
          <a:p>
            <a:pPr algn="ctr"/>
            <a:r>
              <a:rPr sz="1100" b="1" dirty="0">
                <a:solidFill>
                  <a:srgbClr val="FFFFFF"/>
                </a:solidFill>
                <a:latin typeface="Arial"/>
              </a:rPr>
              <a:t>PROCESS MAPPING</a:t>
            </a:r>
          </a:p>
        </p:txBody>
      </p:sp>
      <p:sp>
        <p:nvSpPr>
          <p:cNvPr id="14" name="TextBox 13"/>
          <p:cNvSpPr txBox="1"/>
          <p:nvPr/>
        </p:nvSpPr>
        <p:spPr>
          <a:xfrm>
            <a:off x="4800600" y="1508760"/>
            <a:ext cx="3703319" cy="892552"/>
          </a:xfrm>
          <a:prstGeom prst="rect">
            <a:avLst/>
          </a:prstGeom>
          <a:noFill/>
        </p:spPr>
        <p:txBody>
          <a:bodyPr wrap="square">
            <a:spAutoFit/>
          </a:bodyPr>
          <a:lstStyle/>
          <a:p>
            <a:pPr>
              <a:spcAft>
                <a:spcPts val="400"/>
              </a:spcAft>
            </a:pPr>
            <a:r>
              <a:rPr sz="1050" b="1" dirty="0">
                <a:solidFill>
                  <a:srgbClr val="E8901E"/>
                </a:solidFill>
                <a:latin typeface="Arial"/>
              </a:rPr>
              <a:t>▸  </a:t>
            </a:r>
            <a:r>
              <a:rPr sz="1050" dirty="0">
                <a:solidFill>
                  <a:srgbClr val="272727"/>
                </a:solidFill>
                <a:latin typeface="Arial"/>
              </a:rPr>
              <a:t>9 maps: </a:t>
            </a:r>
            <a:r>
              <a:rPr lang="en-US" sz="1050" dirty="0">
                <a:solidFill>
                  <a:srgbClr val="272727"/>
                </a:solidFill>
                <a:latin typeface="Arial"/>
              </a:rPr>
              <a:t>3 Types of Program- </a:t>
            </a:r>
            <a:r>
              <a:rPr sz="1050" dirty="0">
                <a:solidFill>
                  <a:srgbClr val="272727"/>
                </a:solidFill>
                <a:latin typeface="Arial"/>
              </a:rPr>
              <a:t>Open · Flagship · Custom</a:t>
            </a:r>
          </a:p>
          <a:p>
            <a:pPr>
              <a:spcAft>
                <a:spcPts val="400"/>
              </a:spcAft>
            </a:pPr>
            <a:r>
              <a:rPr sz="1050" b="1" dirty="0">
                <a:solidFill>
                  <a:srgbClr val="E8901E"/>
                </a:solidFill>
                <a:latin typeface="Arial"/>
              </a:rPr>
              <a:t>▸  </a:t>
            </a:r>
            <a:r>
              <a:rPr lang="en-US" sz="1050" dirty="0">
                <a:solidFill>
                  <a:srgbClr val="272727"/>
                </a:solidFill>
                <a:latin typeface="Arial"/>
              </a:rPr>
              <a:t>Across 3 Stages- </a:t>
            </a:r>
            <a:r>
              <a:rPr sz="1050" dirty="0">
                <a:solidFill>
                  <a:srgbClr val="272727"/>
                </a:solidFill>
                <a:latin typeface="Arial"/>
              </a:rPr>
              <a:t>Demand · Build · Deliver</a:t>
            </a:r>
          </a:p>
          <a:p>
            <a:pPr>
              <a:spcAft>
                <a:spcPts val="400"/>
              </a:spcAft>
            </a:pPr>
            <a:r>
              <a:rPr sz="1050" b="1" dirty="0">
                <a:solidFill>
                  <a:srgbClr val="E8901E"/>
                </a:solidFill>
                <a:latin typeface="Arial"/>
              </a:rPr>
              <a:t>▸  </a:t>
            </a:r>
            <a:r>
              <a:rPr sz="1050" dirty="0">
                <a:solidFill>
                  <a:srgbClr val="272727"/>
                </a:solidFill>
                <a:latin typeface="Arial"/>
              </a:rPr>
              <a:t>Current-state bottleneck annotations</a:t>
            </a:r>
          </a:p>
          <a:p>
            <a:pPr>
              <a:spcAft>
                <a:spcPts val="400"/>
              </a:spcAft>
            </a:pPr>
            <a:r>
              <a:rPr sz="1050" b="1" dirty="0">
                <a:solidFill>
                  <a:srgbClr val="E8901E"/>
                </a:solidFill>
                <a:latin typeface="Arial"/>
              </a:rPr>
              <a:t>▸  </a:t>
            </a:r>
            <a:r>
              <a:rPr sz="1050" dirty="0">
                <a:solidFill>
                  <a:srgbClr val="272727"/>
                </a:solidFill>
                <a:latin typeface="Arial"/>
              </a:rPr>
              <a:t>Volume and time metrics extracted</a:t>
            </a:r>
          </a:p>
        </p:txBody>
      </p:sp>
      <p:sp>
        <p:nvSpPr>
          <p:cNvPr id="15" name="Rectangle 14"/>
          <p:cNvSpPr/>
          <p:nvPr/>
        </p:nvSpPr>
        <p:spPr>
          <a:xfrm>
            <a:off x="457200" y="2880360"/>
            <a:ext cx="3977639" cy="16916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2880360"/>
            <a:ext cx="3977639" cy="36576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2926080"/>
            <a:ext cx="3703319" cy="241980"/>
          </a:xfrm>
          <a:prstGeom prst="rect">
            <a:avLst/>
          </a:prstGeom>
          <a:noFill/>
        </p:spPr>
        <p:txBody>
          <a:bodyPr wrap="square" lIns="36000" tIns="36000" rIns="36000" bIns="36000" anchor="t">
            <a:spAutoFit/>
          </a:bodyPr>
          <a:lstStyle/>
          <a:p>
            <a:pPr algn="ctr"/>
            <a:r>
              <a:rPr sz="1100" b="1" dirty="0">
                <a:solidFill>
                  <a:srgbClr val="FFFFFF"/>
                </a:solidFill>
                <a:latin typeface="Arial"/>
              </a:rPr>
              <a:t>STRATEGY SYNTHESIS</a:t>
            </a:r>
          </a:p>
        </p:txBody>
      </p:sp>
      <p:sp>
        <p:nvSpPr>
          <p:cNvPr id="18" name="TextBox 17"/>
          <p:cNvSpPr txBox="1"/>
          <p:nvPr/>
        </p:nvSpPr>
        <p:spPr>
          <a:xfrm>
            <a:off x="594360" y="3337560"/>
            <a:ext cx="3703319" cy="923330"/>
          </a:xfrm>
          <a:prstGeom prst="rect">
            <a:avLst/>
          </a:prstGeom>
          <a:noFill/>
        </p:spPr>
        <p:txBody>
          <a:bodyPr wrap="square">
            <a:spAutoFit/>
          </a:bodyPr>
          <a:lstStyle/>
          <a:p>
            <a:pPr>
              <a:spcAft>
                <a:spcPts val="400"/>
              </a:spcAft>
            </a:pPr>
            <a:r>
              <a:rPr sz="1100" b="1" dirty="0">
                <a:solidFill>
                  <a:srgbClr val="E8901E"/>
                </a:solidFill>
                <a:latin typeface="Arial"/>
              </a:rPr>
              <a:t>▸  </a:t>
            </a:r>
            <a:r>
              <a:rPr sz="1100" dirty="0">
                <a:solidFill>
                  <a:srgbClr val="272727"/>
                </a:solidFill>
                <a:latin typeface="Arial"/>
              </a:rPr>
              <a:t>TMTC strategy memo (19 agents)</a:t>
            </a:r>
          </a:p>
          <a:p>
            <a:pPr>
              <a:spcAft>
                <a:spcPts val="400"/>
              </a:spcAft>
            </a:pPr>
            <a:r>
              <a:rPr sz="1100" b="1" dirty="0">
                <a:solidFill>
                  <a:srgbClr val="E8901E"/>
                </a:solidFill>
                <a:latin typeface="Arial"/>
              </a:rPr>
              <a:t>▸  </a:t>
            </a:r>
            <a:r>
              <a:rPr sz="1100" dirty="0">
                <a:solidFill>
                  <a:srgbClr val="272727"/>
                </a:solidFill>
                <a:latin typeface="Arial"/>
              </a:rPr>
              <a:t>TAS strategy memo (17 agents)</a:t>
            </a:r>
          </a:p>
          <a:p>
            <a:pPr>
              <a:spcAft>
                <a:spcPts val="400"/>
              </a:spcAft>
            </a:pPr>
            <a:r>
              <a:rPr sz="1100" b="1" dirty="0">
                <a:solidFill>
                  <a:srgbClr val="E8901E"/>
                </a:solidFill>
                <a:latin typeface="Arial"/>
              </a:rPr>
              <a:t>▸  </a:t>
            </a:r>
            <a:r>
              <a:rPr sz="1100" dirty="0">
                <a:solidFill>
                  <a:srgbClr val="272727"/>
                </a:solidFill>
                <a:latin typeface="Arial"/>
              </a:rPr>
              <a:t>AI-native operating models</a:t>
            </a:r>
          </a:p>
          <a:p>
            <a:pPr>
              <a:spcAft>
                <a:spcPts val="400"/>
              </a:spcAft>
            </a:pPr>
            <a:r>
              <a:rPr sz="1100" b="1" dirty="0">
                <a:solidFill>
                  <a:srgbClr val="E8901E"/>
                </a:solidFill>
                <a:latin typeface="Arial"/>
              </a:rPr>
              <a:t>▸  </a:t>
            </a:r>
            <a:r>
              <a:rPr sz="1100" dirty="0">
                <a:solidFill>
                  <a:srgbClr val="272727"/>
                </a:solidFill>
                <a:latin typeface="Arial"/>
              </a:rPr>
              <a:t>Decision-rights + governance + roadmap</a:t>
            </a:r>
          </a:p>
        </p:txBody>
      </p:sp>
      <p:sp>
        <p:nvSpPr>
          <p:cNvPr id="19" name="Rectangle 18"/>
          <p:cNvSpPr/>
          <p:nvPr/>
        </p:nvSpPr>
        <p:spPr>
          <a:xfrm>
            <a:off x="4663440" y="2880360"/>
            <a:ext cx="3977639" cy="16916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663440" y="2880360"/>
            <a:ext cx="3977639" cy="36576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800600" y="2926080"/>
            <a:ext cx="3703319" cy="241980"/>
          </a:xfrm>
          <a:prstGeom prst="rect">
            <a:avLst/>
          </a:prstGeom>
          <a:noFill/>
        </p:spPr>
        <p:txBody>
          <a:bodyPr wrap="square" lIns="36000" tIns="36000" rIns="36000" bIns="36000" anchor="t">
            <a:spAutoFit/>
          </a:bodyPr>
          <a:lstStyle/>
          <a:p>
            <a:pPr algn="ctr"/>
            <a:r>
              <a:rPr sz="1100" b="1" dirty="0">
                <a:solidFill>
                  <a:srgbClr val="FFFFFF"/>
                </a:solidFill>
                <a:latin typeface="Arial"/>
              </a:rPr>
              <a:t>PROTOTYPING</a:t>
            </a:r>
          </a:p>
        </p:txBody>
      </p:sp>
      <p:sp>
        <p:nvSpPr>
          <p:cNvPr id="22" name="TextBox 21"/>
          <p:cNvSpPr txBox="1"/>
          <p:nvPr/>
        </p:nvSpPr>
        <p:spPr>
          <a:xfrm>
            <a:off x="4800600" y="3337560"/>
            <a:ext cx="3703319" cy="923330"/>
          </a:xfrm>
          <a:prstGeom prst="rect">
            <a:avLst/>
          </a:prstGeom>
          <a:noFill/>
        </p:spPr>
        <p:txBody>
          <a:bodyPr wrap="square">
            <a:spAutoFit/>
          </a:bodyPr>
          <a:lstStyle/>
          <a:p>
            <a:pPr>
              <a:spcAft>
                <a:spcPts val="400"/>
              </a:spcAft>
            </a:pPr>
            <a:r>
              <a:rPr sz="1100" b="1" dirty="0">
                <a:solidFill>
                  <a:srgbClr val="E8901E"/>
                </a:solidFill>
                <a:latin typeface="Arial"/>
              </a:rPr>
              <a:t>▸  </a:t>
            </a:r>
            <a:r>
              <a:rPr sz="1100" dirty="0">
                <a:solidFill>
                  <a:srgbClr val="272727"/>
                </a:solidFill>
                <a:latin typeface="Arial"/>
              </a:rPr>
              <a:t>TMTC Journey Studio (React + TS)</a:t>
            </a:r>
          </a:p>
          <a:p>
            <a:pPr>
              <a:spcAft>
                <a:spcPts val="400"/>
              </a:spcAft>
            </a:pPr>
            <a:r>
              <a:rPr sz="1100" b="1" dirty="0">
                <a:solidFill>
                  <a:srgbClr val="E8901E"/>
                </a:solidFill>
                <a:latin typeface="Arial"/>
              </a:rPr>
              <a:t>▸  </a:t>
            </a:r>
            <a:r>
              <a:rPr sz="1100" dirty="0">
                <a:solidFill>
                  <a:srgbClr val="272727"/>
                </a:solidFill>
                <a:latin typeface="Arial"/>
              </a:rPr>
              <a:t>AI Hiring Platform (React + TS)</a:t>
            </a:r>
          </a:p>
          <a:p>
            <a:pPr>
              <a:spcAft>
                <a:spcPts val="400"/>
              </a:spcAft>
            </a:pPr>
            <a:r>
              <a:rPr sz="1100" b="1" dirty="0">
                <a:solidFill>
                  <a:srgbClr val="E8901E"/>
                </a:solidFill>
                <a:latin typeface="Arial"/>
              </a:rPr>
              <a:t>▸  </a:t>
            </a:r>
            <a:r>
              <a:rPr sz="1100" dirty="0">
                <a:solidFill>
                  <a:srgbClr val="272727"/>
                </a:solidFill>
                <a:latin typeface="Arial"/>
              </a:rPr>
              <a:t>11 AI worker contracts</a:t>
            </a:r>
          </a:p>
          <a:p>
            <a:pPr>
              <a:spcAft>
                <a:spcPts val="400"/>
              </a:spcAft>
            </a:pPr>
            <a:r>
              <a:rPr sz="1100" b="1" dirty="0">
                <a:solidFill>
                  <a:srgbClr val="E8901E"/>
                </a:solidFill>
                <a:latin typeface="Arial"/>
              </a:rPr>
              <a:t>▸  </a:t>
            </a:r>
            <a:r>
              <a:rPr sz="1100" dirty="0">
                <a:solidFill>
                  <a:srgbClr val="272727"/>
                </a:solidFill>
                <a:latin typeface="Arial"/>
              </a:rPr>
              <a:t>8</a:t>
            </a:r>
            <a:r>
              <a:rPr lang="en-US" sz="1100" dirty="0">
                <a:solidFill>
                  <a:srgbClr val="272727"/>
                </a:solidFill>
                <a:latin typeface="Arial"/>
              </a:rPr>
              <a:t> </a:t>
            </a:r>
            <a:r>
              <a:rPr sz="1100" dirty="0">
                <a:solidFill>
                  <a:srgbClr val="272727"/>
                </a:solidFill>
                <a:latin typeface="Arial"/>
              </a:rPr>
              <a:t>UX flowcharts</a:t>
            </a:r>
          </a:p>
        </p:txBody>
      </p:sp>
      <p:sp>
        <p:nvSpPr>
          <p:cNvPr id="23" name="TextBox 22"/>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4 / 1</a:t>
            </a:r>
            <a:r>
              <a:rPr lang="en-US" sz="800" dirty="0">
                <a:solidFill>
                  <a:srgbClr val="999999"/>
                </a:solidFill>
                <a:latin typeface="Arial"/>
              </a:rPr>
              <a:t>1</a:t>
            </a:r>
            <a:endParaRPr sz="800" b="0" dirty="0">
              <a:solidFill>
                <a:srgbClr val="999999"/>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35463"/>
            <a:ext cx="8229600" cy="688256"/>
          </a:xfrm>
          <a:prstGeom prst="rect">
            <a:avLst/>
          </a:prstGeom>
          <a:noFill/>
        </p:spPr>
        <p:txBody>
          <a:bodyPr wrap="square" lIns="36000" tIns="36000" rIns="36000" bIns="36000" anchor="t">
            <a:spAutoFit/>
          </a:bodyPr>
          <a:lstStyle/>
          <a:p>
            <a:pPr algn="l"/>
            <a:r>
              <a:rPr sz="2000" b="1" dirty="0">
                <a:solidFill>
                  <a:srgbClr val="001B5B"/>
                </a:solidFill>
                <a:latin typeface="Arial"/>
              </a:rPr>
              <a:t>TMTC today </a:t>
            </a:r>
            <a:r>
              <a:rPr lang="en-US" sz="2000" b="1" dirty="0">
                <a:solidFill>
                  <a:srgbClr val="001B5B"/>
                </a:solidFill>
                <a:latin typeface="Arial"/>
              </a:rPr>
              <a:t>-</a:t>
            </a:r>
            <a:r>
              <a:rPr sz="2000" b="1" dirty="0">
                <a:solidFill>
                  <a:srgbClr val="001B5B"/>
                </a:solidFill>
                <a:latin typeface="Arial"/>
              </a:rPr>
              <a:t> 200 programs, </a:t>
            </a:r>
            <a:r>
              <a:rPr lang="en-US" sz="2000" b="1" dirty="0">
                <a:solidFill>
                  <a:srgbClr val="001B5B"/>
                </a:solidFill>
                <a:latin typeface="Arial"/>
              </a:rPr>
              <a:t>no</a:t>
            </a:r>
            <a:r>
              <a:rPr sz="2000" b="1" dirty="0">
                <a:solidFill>
                  <a:srgbClr val="001B5B"/>
                </a:solidFill>
                <a:latin typeface="Arial"/>
              </a:rPr>
              <a:t> LMS,</a:t>
            </a:r>
            <a:br>
              <a:rPr lang="en-US" sz="2000" b="1" dirty="0">
                <a:solidFill>
                  <a:srgbClr val="001B5B"/>
                </a:solidFill>
                <a:latin typeface="Arial"/>
              </a:rPr>
            </a:br>
            <a:r>
              <a:rPr sz="2000" b="1" dirty="0">
                <a:solidFill>
                  <a:srgbClr val="001B5B"/>
                </a:solidFill>
                <a:latin typeface="Arial"/>
              </a:rPr>
              <a:t> institutional memory trapped </a:t>
            </a:r>
            <a:r>
              <a:rPr lang="en-US" sz="2000" b="1" dirty="0">
                <a:solidFill>
                  <a:srgbClr val="001B5B"/>
                </a:solidFill>
                <a:latin typeface="Arial"/>
              </a:rPr>
              <a:t>with</a:t>
            </a:r>
            <a:r>
              <a:rPr sz="2000" b="1" dirty="0">
                <a:solidFill>
                  <a:srgbClr val="001B5B"/>
                </a:solidFill>
                <a:latin typeface="Arial"/>
              </a:rPr>
              <a:t> people</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a:rPr>
              <a:t>AI-NATIVE</a:t>
            </a:r>
            <a:r>
              <a:rPr lang="en-US" sz="800" b="0" dirty="0">
                <a:solidFill>
                  <a:srgbClr val="999999"/>
                </a:solidFill>
                <a:latin typeface="Arial"/>
              </a:rPr>
              <a:t> GROUP</a:t>
            </a:r>
            <a:r>
              <a:rPr sz="800" b="0" dirty="0">
                <a:solidFill>
                  <a:srgbClr val="999999"/>
                </a:solidFill>
                <a:latin typeface="Arial"/>
              </a:rPr>
              <a:t> HR · PANEL PRESENTATION</a:t>
            </a:r>
          </a:p>
        </p:txBody>
      </p:sp>
      <p:sp>
        <p:nvSpPr>
          <p:cNvPr id="6" name="TextBox 5"/>
          <p:cNvSpPr txBox="1"/>
          <p:nvPr/>
        </p:nvSpPr>
        <p:spPr>
          <a:xfrm>
            <a:off x="457200" y="841248"/>
            <a:ext cx="2743200" cy="228600"/>
          </a:xfrm>
          <a:prstGeom prst="rect">
            <a:avLst/>
          </a:prstGeom>
          <a:noFill/>
        </p:spPr>
        <p:txBody>
          <a:bodyPr wrap="square" lIns="36000" tIns="36000" rIns="36000" bIns="36000" anchor="t">
            <a:spAutoFit/>
          </a:bodyPr>
          <a:lstStyle/>
          <a:p>
            <a:pPr algn="l"/>
            <a:r>
              <a:rPr sz="800" b="1">
                <a:solidFill>
                  <a:srgbClr val="E8901E"/>
                </a:solidFill>
                <a:latin typeface="Arial"/>
              </a:rPr>
              <a:t>KEY FINDINGS &amp; ANALYSIS</a:t>
            </a:r>
          </a:p>
        </p:txBody>
      </p:sp>
      <p:sp>
        <p:nvSpPr>
          <p:cNvPr id="7" name="Rectangle 6"/>
          <p:cNvSpPr/>
          <p:nvPr/>
        </p:nvSpPr>
        <p:spPr>
          <a:xfrm>
            <a:off x="457200" y="1051560"/>
            <a:ext cx="1463040" cy="9144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097280"/>
            <a:ext cx="1280160" cy="457200"/>
          </a:xfrm>
          <a:prstGeom prst="rect">
            <a:avLst/>
          </a:prstGeom>
          <a:noFill/>
        </p:spPr>
        <p:txBody>
          <a:bodyPr wrap="square" lIns="36000" tIns="36000" rIns="36000" bIns="36000" anchor="t">
            <a:spAutoFit/>
          </a:bodyPr>
          <a:lstStyle/>
          <a:p>
            <a:pPr algn="ctr"/>
            <a:r>
              <a:rPr sz="2200" b="1">
                <a:solidFill>
                  <a:srgbClr val="E8901E"/>
                </a:solidFill>
                <a:latin typeface="Arial"/>
              </a:rPr>
              <a:t>200+</a:t>
            </a:r>
          </a:p>
        </p:txBody>
      </p:sp>
      <p:sp>
        <p:nvSpPr>
          <p:cNvPr id="9" name="TextBox 8"/>
          <p:cNvSpPr txBox="1"/>
          <p:nvPr/>
        </p:nvSpPr>
        <p:spPr>
          <a:xfrm>
            <a:off x="548640" y="1508760"/>
            <a:ext cx="1280160" cy="241980"/>
          </a:xfrm>
          <a:prstGeom prst="rect">
            <a:avLst/>
          </a:prstGeom>
          <a:noFill/>
        </p:spPr>
        <p:txBody>
          <a:bodyPr wrap="square" lIns="36000" tIns="36000" rIns="36000" bIns="36000" anchor="t">
            <a:spAutoFit/>
          </a:bodyPr>
          <a:lstStyle/>
          <a:p>
            <a:pPr algn="ctr"/>
            <a:r>
              <a:rPr sz="1100" b="0" dirty="0">
                <a:solidFill>
                  <a:srgbClr val="272727"/>
                </a:solidFill>
                <a:latin typeface="Arial"/>
              </a:rPr>
              <a:t>programs/year</a:t>
            </a:r>
          </a:p>
        </p:txBody>
      </p:sp>
      <p:sp>
        <p:nvSpPr>
          <p:cNvPr id="10" name="Rectangle 9"/>
          <p:cNvSpPr/>
          <p:nvPr/>
        </p:nvSpPr>
        <p:spPr>
          <a:xfrm>
            <a:off x="2103120" y="1051560"/>
            <a:ext cx="1463040" cy="9144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194560" y="1097280"/>
            <a:ext cx="1280160" cy="411257"/>
          </a:xfrm>
          <a:prstGeom prst="rect">
            <a:avLst/>
          </a:prstGeom>
          <a:noFill/>
        </p:spPr>
        <p:txBody>
          <a:bodyPr wrap="square" lIns="36000" tIns="36000" rIns="36000" bIns="36000" anchor="t">
            <a:spAutoFit/>
          </a:bodyPr>
          <a:lstStyle/>
          <a:p>
            <a:pPr algn="ctr"/>
            <a:r>
              <a:rPr lang="en-US" sz="2200" b="1" dirty="0">
                <a:solidFill>
                  <a:srgbClr val="E8901E"/>
                </a:solidFill>
                <a:latin typeface="Arial"/>
              </a:rPr>
              <a:t>No</a:t>
            </a:r>
            <a:endParaRPr sz="2200" b="1" dirty="0">
              <a:solidFill>
                <a:srgbClr val="E8901E"/>
              </a:solidFill>
              <a:latin typeface="Arial"/>
            </a:endParaRPr>
          </a:p>
        </p:txBody>
      </p:sp>
      <p:sp>
        <p:nvSpPr>
          <p:cNvPr id="12" name="TextBox 11"/>
          <p:cNvSpPr txBox="1"/>
          <p:nvPr/>
        </p:nvSpPr>
        <p:spPr>
          <a:xfrm>
            <a:off x="2194560" y="1508760"/>
            <a:ext cx="1280160" cy="241980"/>
          </a:xfrm>
          <a:prstGeom prst="rect">
            <a:avLst/>
          </a:prstGeom>
          <a:noFill/>
        </p:spPr>
        <p:txBody>
          <a:bodyPr wrap="square" lIns="36000" tIns="36000" rIns="36000" bIns="36000" anchor="t">
            <a:spAutoFit/>
          </a:bodyPr>
          <a:lstStyle/>
          <a:p>
            <a:pPr algn="ctr"/>
            <a:r>
              <a:rPr sz="1100" b="0" dirty="0">
                <a:solidFill>
                  <a:srgbClr val="272727"/>
                </a:solidFill>
                <a:latin typeface="Arial"/>
              </a:rPr>
              <a:t>LMS</a:t>
            </a:r>
          </a:p>
        </p:txBody>
      </p:sp>
      <p:sp>
        <p:nvSpPr>
          <p:cNvPr id="13" name="Rectangle 12"/>
          <p:cNvSpPr/>
          <p:nvPr/>
        </p:nvSpPr>
        <p:spPr>
          <a:xfrm>
            <a:off x="3749040" y="1051560"/>
            <a:ext cx="1463040" cy="9144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840480" y="1097280"/>
            <a:ext cx="1280160" cy="411257"/>
          </a:xfrm>
          <a:prstGeom prst="rect">
            <a:avLst/>
          </a:prstGeom>
          <a:noFill/>
        </p:spPr>
        <p:txBody>
          <a:bodyPr wrap="square" lIns="36000" tIns="36000" rIns="36000" bIns="36000" anchor="t">
            <a:spAutoFit/>
          </a:bodyPr>
          <a:lstStyle/>
          <a:p>
            <a:pPr algn="ctr"/>
            <a:r>
              <a:rPr lang="en-US" sz="2200" b="1" dirty="0">
                <a:solidFill>
                  <a:srgbClr val="E8901E"/>
                </a:solidFill>
                <a:latin typeface="Arial"/>
              </a:rPr>
              <a:t>No</a:t>
            </a:r>
            <a:endParaRPr sz="2200" b="1" dirty="0">
              <a:solidFill>
                <a:srgbClr val="E8901E"/>
              </a:solidFill>
              <a:latin typeface="Arial"/>
            </a:endParaRPr>
          </a:p>
        </p:txBody>
      </p:sp>
      <p:sp>
        <p:nvSpPr>
          <p:cNvPr id="15" name="TextBox 14"/>
          <p:cNvSpPr txBox="1"/>
          <p:nvPr/>
        </p:nvSpPr>
        <p:spPr>
          <a:xfrm>
            <a:off x="3840480" y="1508760"/>
            <a:ext cx="1280160" cy="241980"/>
          </a:xfrm>
          <a:prstGeom prst="rect">
            <a:avLst/>
          </a:prstGeom>
          <a:noFill/>
        </p:spPr>
        <p:txBody>
          <a:bodyPr wrap="square" lIns="36000" tIns="36000" rIns="36000" bIns="36000" anchor="t">
            <a:spAutoFit/>
          </a:bodyPr>
          <a:lstStyle/>
          <a:p>
            <a:pPr algn="ctr"/>
            <a:r>
              <a:rPr sz="1100" b="0" dirty="0">
                <a:solidFill>
                  <a:srgbClr val="272727"/>
                </a:solidFill>
                <a:latin typeface="Arial"/>
              </a:rPr>
              <a:t>faculty D</a:t>
            </a:r>
            <a:r>
              <a:rPr lang="en-US" sz="1100" dirty="0">
                <a:solidFill>
                  <a:srgbClr val="272727"/>
                </a:solidFill>
                <a:latin typeface="Arial"/>
              </a:rPr>
              <a:t>atabase</a:t>
            </a:r>
            <a:endParaRPr sz="1100" b="0" dirty="0">
              <a:solidFill>
                <a:srgbClr val="272727"/>
              </a:solidFill>
              <a:latin typeface="Arial"/>
            </a:endParaRPr>
          </a:p>
        </p:txBody>
      </p:sp>
      <p:sp>
        <p:nvSpPr>
          <p:cNvPr id="16" name="Rectangle 15"/>
          <p:cNvSpPr/>
          <p:nvPr/>
        </p:nvSpPr>
        <p:spPr>
          <a:xfrm>
            <a:off x="5394960" y="1051560"/>
            <a:ext cx="1463040" cy="9144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0" y="1097280"/>
            <a:ext cx="1280160" cy="457200"/>
          </a:xfrm>
          <a:prstGeom prst="rect">
            <a:avLst/>
          </a:prstGeom>
          <a:noFill/>
        </p:spPr>
        <p:txBody>
          <a:bodyPr wrap="square" lIns="36000" tIns="36000" rIns="36000" bIns="36000" anchor="t">
            <a:spAutoFit/>
          </a:bodyPr>
          <a:lstStyle/>
          <a:p>
            <a:pPr algn="ctr"/>
            <a:r>
              <a:rPr sz="2200" b="1">
                <a:solidFill>
                  <a:srgbClr val="E8901E"/>
                </a:solidFill>
                <a:latin typeface="Arial"/>
              </a:rPr>
              <a:t>5y</a:t>
            </a:r>
          </a:p>
        </p:txBody>
      </p:sp>
      <p:sp>
        <p:nvSpPr>
          <p:cNvPr id="18" name="TextBox 17"/>
          <p:cNvSpPr txBox="1"/>
          <p:nvPr/>
        </p:nvSpPr>
        <p:spPr>
          <a:xfrm>
            <a:off x="5486400" y="1432557"/>
            <a:ext cx="1280160" cy="580534"/>
          </a:xfrm>
          <a:prstGeom prst="rect">
            <a:avLst/>
          </a:prstGeom>
          <a:noFill/>
        </p:spPr>
        <p:txBody>
          <a:bodyPr wrap="square" lIns="36000" tIns="36000" rIns="36000" bIns="36000" anchor="t">
            <a:spAutoFit/>
          </a:bodyPr>
          <a:lstStyle/>
          <a:p>
            <a:pPr algn="ctr"/>
            <a:r>
              <a:rPr sz="1100" b="0" dirty="0">
                <a:solidFill>
                  <a:srgbClr val="272727"/>
                </a:solidFill>
                <a:latin typeface="Arial"/>
              </a:rPr>
              <a:t>of dossiers</a:t>
            </a:r>
          </a:p>
          <a:p>
            <a:pPr algn="ctr"/>
            <a:r>
              <a:rPr lang="en-IN" sz="1100" b="0" dirty="0">
                <a:solidFill>
                  <a:srgbClr val="272727"/>
                </a:solidFill>
                <a:latin typeface="Arial"/>
              </a:rPr>
              <a:t>W</a:t>
            </a:r>
            <a:r>
              <a:rPr sz="1100" b="0" dirty="0">
                <a:solidFill>
                  <a:srgbClr val="272727"/>
                </a:solidFill>
                <a:latin typeface="Arial"/>
              </a:rPr>
              <a:t>anted</a:t>
            </a:r>
            <a:r>
              <a:rPr lang="en-US" sz="1100" b="0" dirty="0">
                <a:solidFill>
                  <a:srgbClr val="272727"/>
                </a:solidFill>
                <a:latin typeface="Arial"/>
              </a:rPr>
              <a:t> by Program Directors</a:t>
            </a:r>
            <a:endParaRPr sz="1100" b="0" dirty="0">
              <a:solidFill>
                <a:srgbClr val="272727"/>
              </a:solidFill>
              <a:latin typeface="Arial"/>
            </a:endParaRPr>
          </a:p>
        </p:txBody>
      </p:sp>
      <p:sp>
        <p:nvSpPr>
          <p:cNvPr id="19" name="Rectangle 18"/>
          <p:cNvSpPr/>
          <p:nvPr/>
        </p:nvSpPr>
        <p:spPr>
          <a:xfrm>
            <a:off x="7040880" y="1051560"/>
            <a:ext cx="1463040" cy="9144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32320" y="1097280"/>
            <a:ext cx="1280160" cy="411257"/>
          </a:xfrm>
          <a:prstGeom prst="rect">
            <a:avLst/>
          </a:prstGeom>
          <a:noFill/>
        </p:spPr>
        <p:txBody>
          <a:bodyPr wrap="square" lIns="36000" tIns="36000" rIns="36000" bIns="36000" anchor="t">
            <a:spAutoFit/>
          </a:bodyPr>
          <a:lstStyle/>
          <a:p>
            <a:pPr algn="ctr"/>
            <a:r>
              <a:rPr lang="en-US" sz="2200" b="1" dirty="0">
                <a:solidFill>
                  <a:srgbClr val="E8901E"/>
                </a:solidFill>
                <a:latin typeface="Arial"/>
              </a:rPr>
              <a:t>No</a:t>
            </a:r>
            <a:endParaRPr sz="2200" b="1" dirty="0">
              <a:solidFill>
                <a:srgbClr val="E8901E"/>
              </a:solidFill>
              <a:latin typeface="Arial"/>
            </a:endParaRPr>
          </a:p>
        </p:txBody>
      </p:sp>
      <p:sp>
        <p:nvSpPr>
          <p:cNvPr id="21" name="TextBox 20"/>
          <p:cNvSpPr txBox="1"/>
          <p:nvPr/>
        </p:nvSpPr>
        <p:spPr>
          <a:xfrm>
            <a:off x="7132320" y="1508760"/>
            <a:ext cx="1280160" cy="411257"/>
          </a:xfrm>
          <a:prstGeom prst="rect">
            <a:avLst/>
          </a:prstGeom>
          <a:noFill/>
        </p:spPr>
        <p:txBody>
          <a:bodyPr wrap="square" lIns="36000" tIns="36000" rIns="36000" bIns="36000" anchor="t">
            <a:spAutoFit/>
          </a:bodyPr>
          <a:lstStyle/>
          <a:p>
            <a:pPr algn="ctr"/>
            <a:r>
              <a:rPr lang="en-US" sz="1100" b="0" dirty="0">
                <a:solidFill>
                  <a:srgbClr val="272727"/>
                </a:solidFill>
                <a:latin typeface="Arial"/>
              </a:rPr>
              <a:t>Continuous </a:t>
            </a:r>
            <a:r>
              <a:rPr sz="1100" b="0" dirty="0">
                <a:solidFill>
                  <a:srgbClr val="272727"/>
                </a:solidFill>
                <a:latin typeface="Arial"/>
              </a:rPr>
              <a:t>alumni</a:t>
            </a:r>
          </a:p>
          <a:p>
            <a:pPr algn="ctr"/>
            <a:r>
              <a:rPr sz="1100" b="0" dirty="0">
                <a:solidFill>
                  <a:srgbClr val="272727"/>
                </a:solidFill>
                <a:latin typeface="Arial"/>
              </a:rPr>
              <a:t>tracking</a:t>
            </a:r>
          </a:p>
        </p:txBody>
      </p:sp>
      <p:sp>
        <p:nvSpPr>
          <p:cNvPr id="22" name="Rectangle 21"/>
          <p:cNvSpPr/>
          <p:nvPr/>
        </p:nvSpPr>
        <p:spPr>
          <a:xfrm>
            <a:off x="457200" y="2194560"/>
            <a:ext cx="8229600" cy="822960"/>
          </a:xfrm>
          <a:prstGeom prst="rect">
            <a:avLst/>
          </a:prstGeom>
          <a:solidFill>
            <a:srgbClr val="E6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2286000"/>
            <a:ext cx="7772400" cy="503590"/>
          </a:xfrm>
          <a:prstGeom prst="rect">
            <a:avLst/>
          </a:prstGeom>
          <a:noFill/>
        </p:spPr>
        <p:txBody>
          <a:bodyPr wrap="square" lIns="36000" tIns="36000" rIns="36000" bIns="36000" anchor="t">
            <a:spAutoFit/>
          </a:bodyPr>
          <a:lstStyle/>
          <a:p>
            <a:pPr algn="l"/>
            <a:r>
              <a:rPr sz="1400" b="1" dirty="0">
                <a:solidFill>
                  <a:srgbClr val="001B5B"/>
                </a:solidFill>
                <a:latin typeface="Arial"/>
              </a:rPr>
              <a:t>"We reuse maybe 10% of what we build. The rest sits in someone's SharePoint folder and nobody finds it again."</a:t>
            </a:r>
          </a:p>
        </p:txBody>
      </p:sp>
      <p:sp>
        <p:nvSpPr>
          <p:cNvPr id="24" name="TextBox 23"/>
          <p:cNvSpPr txBox="1"/>
          <p:nvPr/>
        </p:nvSpPr>
        <p:spPr>
          <a:xfrm>
            <a:off x="6781797" y="2697480"/>
            <a:ext cx="1828800" cy="226591"/>
          </a:xfrm>
          <a:prstGeom prst="rect">
            <a:avLst/>
          </a:prstGeom>
          <a:noFill/>
        </p:spPr>
        <p:txBody>
          <a:bodyPr wrap="square" lIns="36000" tIns="36000" rIns="36000" bIns="36000" anchor="t">
            <a:spAutoFit/>
          </a:bodyPr>
          <a:lstStyle/>
          <a:p>
            <a:pPr algn="r"/>
            <a:r>
              <a:rPr sz="1000" b="0" dirty="0">
                <a:solidFill>
                  <a:srgbClr val="999999"/>
                </a:solidFill>
                <a:latin typeface="Arial"/>
              </a:rPr>
              <a:t>— TMTC Stakeholder</a:t>
            </a:r>
          </a:p>
        </p:txBody>
      </p:sp>
      <p:grpSp>
        <p:nvGrpSpPr>
          <p:cNvPr id="34" name="Group 33">
            <a:extLst>
              <a:ext uri="{FF2B5EF4-FFF2-40B4-BE49-F238E27FC236}">
                <a16:creationId xmlns:a16="http://schemas.microsoft.com/office/drawing/2014/main" id="{19F3E76A-3A4B-AF5E-3E16-1EACC02703C7}"/>
              </a:ext>
            </a:extLst>
          </p:cNvPr>
          <p:cNvGrpSpPr/>
          <p:nvPr/>
        </p:nvGrpSpPr>
        <p:grpSpPr>
          <a:xfrm>
            <a:off x="457200" y="3246120"/>
            <a:ext cx="8046720" cy="1554480"/>
            <a:chOff x="457200" y="3246120"/>
            <a:chExt cx="8046720" cy="1554480"/>
          </a:xfrm>
        </p:grpSpPr>
        <p:sp>
          <p:nvSpPr>
            <p:cNvPr id="25" name="TextBox 24"/>
            <p:cNvSpPr txBox="1"/>
            <p:nvPr/>
          </p:nvSpPr>
          <p:spPr>
            <a:xfrm>
              <a:off x="457200" y="3246120"/>
              <a:ext cx="274320" cy="320040"/>
            </a:xfrm>
            <a:prstGeom prst="rect">
              <a:avLst/>
            </a:prstGeom>
            <a:noFill/>
          </p:spPr>
          <p:txBody>
            <a:bodyPr wrap="square" lIns="36000" tIns="36000" rIns="36000" bIns="36000" anchor="t">
              <a:spAutoFit/>
            </a:bodyPr>
            <a:lstStyle/>
            <a:p>
              <a:pPr algn="l"/>
              <a:r>
                <a:rPr sz="1100" b="1">
                  <a:solidFill>
                    <a:srgbClr val="E8901E"/>
                  </a:solidFill>
                  <a:latin typeface="Arial"/>
                </a:rPr>
                <a:t>▸</a:t>
              </a:r>
            </a:p>
          </p:txBody>
        </p:sp>
        <p:sp>
          <p:nvSpPr>
            <p:cNvPr id="26" name="TextBox 25"/>
            <p:cNvSpPr txBox="1"/>
            <p:nvPr/>
          </p:nvSpPr>
          <p:spPr>
            <a:xfrm>
              <a:off x="731520" y="3246120"/>
              <a:ext cx="7772400" cy="257369"/>
            </a:xfrm>
            <a:prstGeom prst="rect">
              <a:avLst/>
            </a:prstGeom>
            <a:noFill/>
          </p:spPr>
          <p:txBody>
            <a:bodyPr wrap="square" lIns="36000" tIns="36000" rIns="36000" bIns="36000" anchor="t">
              <a:spAutoFit/>
            </a:bodyPr>
            <a:lstStyle/>
            <a:p>
              <a:pPr algn="l"/>
              <a:r>
                <a:rPr sz="1200" b="0" dirty="0">
                  <a:solidFill>
                    <a:srgbClr val="272727"/>
                  </a:solidFill>
                  <a:latin typeface="Arial"/>
                </a:rPr>
                <a:t>Expert</a:t>
              </a:r>
              <a:r>
                <a:rPr lang="en-US" sz="1200" b="0" dirty="0">
                  <a:solidFill>
                    <a:srgbClr val="272727"/>
                  </a:solidFill>
                  <a:latin typeface="Arial"/>
                </a:rPr>
                <a:t>s</a:t>
              </a:r>
              <a:r>
                <a:rPr sz="1200" b="0" dirty="0">
                  <a:solidFill>
                    <a:srgbClr val="272727"/>
                  </a:solidFill>
                  <a:latin typeface="Arial"/>
                </a:rPr>
                <a:t> design every program from scratch</a:t>
              </a:r>
              <a:r>
                <a:rPr lang="en-US" sz="1200" b="0" dirty="0">
                  <a:solidFill>
                    <a:srgbClr val="272727"/>
                  </a:solidFill>
                  <a:latin typeface="Arial"/>
                </a:rPr>
                <a:t>;</a:t>
              </a:r>
              <a:r>
                <a:rPr sz="1200" b="0" dirty="0">
                  <a:solidFill>
                    <a:srgbClr val="272727"/>
                  </a:solidFill>
                  <a:latin typeface="Arial"/>
                </a:rPr>
                <a:t> institutional intelligence doesn't compound</a:t>
              </a:r>
            </a:p>
          </p:txBody>
        </p:sp>
        <p:sp>
          <p:nvSpPr>
            <p:cNvPr id="27" name="TextBox 26"/>
            <p:cNvSpPr txBox="1"/>
            <p:nvPr/>
          </p:nvSpPr>
          <p:spPr>
            <a:xfrm>
              <a:off x="457200" y="3657600"/>
              <a:ext cx="274320" cy="320040"/>
            </a:xfrm>
            <a:prstGeom prst="rect">
              <a:avLst/>
            </a:prstGeom>
            <a:noFill/>
          </p:spPr>
          <p:txBody>
            <a:bodyPr wrap="square" lIns="36000" tIns="36000" rIns="36000" bIns="36000" anchor="t">
              <a:spAutoFit/>
            </a:bodyPr>
            <a:lstStyle/>
            <a:p>
              <a:pPr algn="l"/>
              <a:r>
                <a:rPr sz="1100" b="1">
                  <a:solidFill>
                    <a:srgbClr val="E8901E"/>
                  </a:solidFill>
                  <a:latin typeface="Arial"/>
                </a:rPr>
                <a:t>▸</a:t>
              </a:r>
            </a:p>
          </p:txBody>
        </p:sp>
        <p:sp>
          <p:nvSpPr>
            <p:cNvPr id="28" name="TextBox 27"/>
            <p:cNvSpPr txBox="1"/>
            <p:nvPr/>
          </p:nvSpPr>
          <p:spPr>
            <a:xfrm>
              <a:off x="731520" y="3657600"/>
              <a:ext cx="7772400" cy="257369"/>
            </a:xfrm>
            <a:prstGeom prst="rect">
              <a:avLst/>
            </a:prstGeom>
            <a:noFill/>
          </p:spPr>
          <p:txBody>
            <a:bodyPr wrap="square" lIns="36000" tIns="36000" rIns="36000" bIns="36000" anchor="t">
              <a:spAutoFit/>
            </a:bodyPr>
            <a:lstStyle/>
            <a:p>
              <a:pPr algn="l"/>
              <a:r>
                <a:rPr sz="1200" b="0" dirty="0">
                  <a:solidFill>
                    <a:srgbClr val="272727"/>
                  </a:solidFill>
                  <a:latin typeface="Arial"/>
                </a:rPr>
                <a:t>Faculty selection driven by relationships, not systematic ratings or evidence-based matching</a:t>
              </a:r>
            </a:p>
          </p:txBody>
        </p:sp>
        <p:sp>
          <p:nvSpPr>
            <p:cNvPr id="29" name="TextBox 28"/>
            <p:cNvSpPr txBox="1"/>
            <p:nvPr/>
          </p:nvSpPr>
          <p:spPr>
            <a:xfrm>
              <a:off x="457200" y="4069080"/>
              <a:ext cx="274320" cy="320040"/>
            </a:xfrm>
            <a:prstGeom prst="rect">
              <a:avLst/>
            </a:prstGeom>
            <a:noFill/>
          </p:spPr>
          <p:txBody>
            <a:bodyPr wrap="square" lIns="36000" tIns="36000" rIns="36000" bIns="36000" anchor="t">
              <a:spAutoFit/>
            </a:bodyPr>
            <a:lstStyle/>
            <a:p>
              <a:pPr algn="l"/>
              <a:r>
                <a:rPr sz="1100" b="1">
                  <a:solidFill>
                    <a:srgbClr val="E8901E"/>
                  </a:solidFill>
                  <a:latin typeface="Arial"/>
                </a:rPr>
                <a:t>▸</a:t>
              </a:r>
            </a:p>
          </p:txBody>
        </p:sp>
        <p:sp>
          <p:nvSpPr>
            <p:cNvPr id="30" name="TextBox 29"/>
            <p:cNvSpPr txBox="1"/>
            <p:nvPr/>
          </p:nvSpPr>
          <p:spPr>
            <a:xfrm>
              <a:off x="731520" y="4069080"/>
              <a:ext cx="7772400" cy="257369"/>
            </a:xfrm>
            <a:prstGeom prst="rect">
              <a:avLst/>
            </a:prstGeom>
            <a:noFill/>
          </p:spPr>
          <p:txBody>
            <a:bodyPr wrap="square" lIns="36000" tIns="36000" rIns="36000" bIns="36000" anchor="t">
              <a:spAutoFit/>
            </a:bodyPr>
            <a:lstStyle/>
            <a:p>
              <a:pPr algn="l"/>
              <a:r>
                <a:rPr sz="1200" b="0" dirty="0">
                  <a:solidFill>
                    <a:srgbClr val="272727"/>
                  </a:solidFill>
                  <a:latin typeface="Arial"/>
                </a:rPr>
                <a:t>Program Coordinators spend 30–40% of capacity on logistics </a:t>
              </a:r>
              <a:r>
                <a:rPr lang="en-US" sz="1200" dirty="0">
                  <a:solidFill>
                    <a:srgbClr val="272727"/>
                  </a:solidFill>
                  <a:latin typeface="Arial"/>
                </a:rPr>
                <a:t>- </a:t>
              </a:r>
              <a:r>
                <a:rPr sz="1200" b="0" dirty="0">
                  <a:solidFill>
                    <a:srgbClr val="272727"/>
                  </a:solidFill>
                  <a:latin typeface="Arial"/>
                </a:rPr>
                <a:t>nominations, dossiers, certificates</a:t>
              </a:r>
            </a:p>
          </p:txBody>
        </p:sp>
        <p:sp>
          <p:nvSpPr>
            <p:cNvPr id="31" name="TextBox 30"/>
            <p:cNvSpPr txBox="1"/>
            <p:nvPr/>
          </p:nvSpPr>
          <p:spPr>
            <a:xfrm>
              <a:off x="457200" y="4480560"/>
              <a:ext cx="274320" cy="320040"/>
            </a:xfrm>
            <a:prstGeom prst="rect">
              <a:avLst/>
            </a:prstGeom>
            <a:noFill/>
          </p:spPr>
          <p:txBody>
            <a:bodyPr wrap="square" lIns="36000" tIns="36000" rIns="36000" bIns="36000" anchor="t">
              <a:spAutoFit/>
            </a:bodyPr>
            <a:lstStyle/>
            <a:p>
              <a:pPr algn="l"/>
              <a:r>
                <a:rPr sz="1100" b="1">
                  <a:solidFill>
                    <a:srgbClr val="E8901E"/>
                  </a:solidFill>
                  <a:latin typeface="Arial"/>
                </a:rPr>
                <a:t>▸</a:t>
              </a:r>
            </a:p>
          </p:txBody>
        </p:sp>
        <p:sp>
          <p:nvSpPr>
            <p:cNvPr id="32" name="TextBox 31"/>
            <p:cNvSpPr txBox="1"/>
            <p:nvPr/>
          </p:nvSpPr>
          <p:spPr>
            <a:xfrm>
              <a:off x="731520" y="4480560"/>
              <a:ext cx="7772400" cy="257369"/>
            </a:xfrm>
            <a:prstGeom prst="rect">
              <a:avLst/>
            </a:prstGeom>
            <a:noFill/>
          </p:spPr>
          <p:txBody>
            <a:bodyPr wrap="square" lIns="36000" tIns="36000" rIns="36000" bIns="36000" anchor="t">
              <a:spAutoFit/>
            </a:bodyPr>
            <a:lstStyle/>
            <a:p>
              <a:pPr algn="l"/>
              <a:r>
                <a:rPr sz="1200" b="0" dirty="0">
                  <a:solidFill>
                    <a:srgbClr val="272727"/>
                  </a:solidFill>
                  <a:latin typeface="Arial"/>
                </a:rPr>
                <a:t>No closed-loop learning: feedback collected but not fed back into program design or faculty evaluation</a:t>
              </a:r>
            </a:p>
          </p:txBody>
        </p:sp>
      </p:grpSp>
      <p:sp>
        <p:nvSpPr>
          <p:cNvPr id="33" name="TextBox 32"/>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5 / 1</a:t>
            </a:r>
            <a:r>
              <a:rPr lang="en-US" sz="800" dirty="0">
                <a:solidFill>
                  <a:srgbClr val="999999"/>
                </a:solidFill>
                <a:latin typeface="Arial"/>
              </a:rPr>
              <a:t>1</a:t>
            </a:r>
            <a:endParaRPr sz="800" b="0" dirty="0">
              <a:solidFill>
                <a:srgbClr val="999999"/>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8229600" cy="380480"/>
          </a:xfrm>
          <a:prstGeom prst="rect">
            <a:avLst/>
          </a:prstGeom>
          <a:noFill/>
        </p:spPr>
        <p:txBody>
          <a:bodyPr wrap="square" lIns="36000" tIns="36000" rIns="36000" bIns="36000" anchor="t">
            <a:spAutoFit/>
          </a:bodyPr>
          <a:lstStyle/>
          <a:p>
            <a:pPr algn="l"/>
            <a:r>
              <a:rPr sz="2000" b="1" dirty="0">
                <a:solidFill>
                  <a:srgbClr val="001B5B"/>
                </a:solidFill>
                <a:latin typeface="Arial"/>
              </a:rPr>
              <a:t>AI-native TMTC </a:t>
            </a:r>
            <a:r>
              <a:rPr lang="en-US" sz="2000" b="1" dirty="0">
                <a:solidFill>
                  <a:srgbClr val="001B5B"/>
                </a:solidFill>
                <a:latin typeface="Arial"/>
              </a:rPr>
              <a:t>-</a:t>
            </a:r>
            <a:r>
              <a:rPr sz="2000" b="1" dirty="0">
                <a:solidFill>
                  <a:srgbClr val="001B5B"/>
                </a:solidFill>
                <a:latin typeface="Arial"/>
              </a:rPr>
              <a:t> six layers, five</a:t>
            </a:r>
            <a:r>
              <a:rPr lang="en-US" sz="2000" b="1" dirty="0">
                <a:solidFill>
                  <a:srgbClr val="001B5B"/>
                </a:solidFill>
                <a:latin typeface="Arial"/>
              </a:rPr>
              <a:t> role</a:t>
            </a:r>
            <a:r>
              <a:rPr sz="2000" b="1" dirty="0">
                <a:solidFill>
                  <a:srgbClr val="001B5B"/>
                </a:solidFill>
                <a:latin typeface="Arial"/>
              </a:rPr>
              <a:t> workbenches, 19 agents</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a:rPr>
              <a:t>AI-NATIVE </a:t>
            </a:r>
            <a:r>
              <a:rPr lang="en-US" sz="800" b="0" dirty="0">
                <a:solidFill>
                  <a:srgbClr val="999999"/>
                </a:solidFill>
                <a:latin typeface="Arial"/>
              </a:rPr>
              <a:t>GROUP </a:t>
            </a:r>
            <a:r>
              <a:rPr sz="800" b="0" dirty="0">
                <a:solidFill>
                  <a:srgbClr val="999999"/>
                </a:solidFill>
                <a:latin typeface="Arial"/>
              </a:rPr>
              <a:t>HR · PANEL PRESENTATION</a:t>
            </a:r>
          </a:p>
        </p:txBody>
      </p:sp>
      <p:sp>
        <p:nvSpPr>
          <p:cNvPr id="6" name="TextBox 5"/>
          <p:cNvSpPr txBox="1"/>
          <p:nvPr/>
        </p:nvSpPr>
        <p:spPr>
          <a:xfrm>
            <a:off x="457200" y="841248"/>
            <a:ext cx="2743200" cy="228600"/>
          </a:xfrm>
          <a:prstGeom prst="rect">
            <a:avLst/>
          </a:prstGeom>
          <a:noFill/>
        </p:spPr>
        <p:txBody>
          <a:bodyPr wrap="square" lIns="36000" tIns="36000" rIns="36000" bIns="36000" anchor="t">
            <a:spAutoFit/>
          </a:bodyPr>
          <a:lstStyle/>
          <a:p>
            <a:pPr algn="l"/>
            <a:r>
              <a:rPr sz="800" b="1">
                <a:solidFill>
                  <a:srgbClr val="E8901E"/>
                </a:solidFill>
                <a:latin typeface="Arial"/>
              </a:rPr>
              <a:t>KEY FINDINGS &amp; ANALYSIS</a:t>
            </a:r>
          </a:p>
        </p:txBody>
      </p:sp>
      <p:sp>
        <p:nvSpPr>
          <p:cNvPr id="7" name="Rectangle 6"/>
          <p:cNvSpPr/>
          <p:nvPr/>
        </p:nvSpPr>
        <p:spPr>
          <a:xfrm>
            <a:off x="457200" y="1051560"/>
            <a:ext cx="4572000" cy="5486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078992"/>
            <a:ext cx="2103120" cy="257369"/>
          </a:xfrm>
          <a:prstGeom prst="rect">
            <a:avLst/>
          </a:prstGeom>
          <a:noFill/>
        </p:spPr>
        <p:txBody>
          <a:bodyPr wrap="square" lIns="36000" tIns="36000" rIns="36000" bIns="36000" anchor="t">
            <a:spAutoFit/>
          </a:bodyPr>
          <a:lstStyle/>
          <a:p>
            <a:pPr algn="l"/>
            <a:r>
              <a:rPr sz="1200" b="1" dirty="0">
                <a:solidFill>
                  <a:srgbClr val="272727"/>
                </a:solidFill>
                <a:latin typeface="Arial"/>
              </a:rPr>
              <a:t>Signal &amp; Intake</a:t>
            </a:r>
          </a:p>
        </p:txBody>
      </p:sp>
      <p:sp>
        <p:nvSpPr>
          <p:cNvPr id="9" name="TextBox 8"/>
          <p:cNvSpPr txBox="1"/>
          <p:nvPr/>
        </p:nvSpPr>
        <p:spPr>
          <a:xfrm>
            <a:off x="594360" y="1307592"/>
            <a:ext cx="4114800" cy="226591"/>
          </a:xfrm>
          <a:prstGeom prst="rect">
            <a:avLst/>
          </a:prstGeom>
          <a:noFill/>
        </p:spPr>
        <p:txBody>
          <a:bodyPr wrap="square" lIns="36000" tIns="36000" rIns="36000" bIns="36000" anchor="t">
            <a:spAutoFit/>
          </a:bodyPr>
          <a:lstStyle/>
          <a:p>
            <a:pPr algn="l"/>
            <a:r>
              <a:rPr sz="1000" b="0" dirty="0">
                <a:solidFill>
                  <a:srgbClr val="272727"/>
                </a:solidFill>
                <a:latin typeface="Arial"/>
              </a:rPr>
              <a:t>Sponsor requests · nominations · feedback · alumni moves</a:t>
            </a:r>
          </a:p>
        </p:txBody>
      </p:sp>
      <p:sp>
        <p:nvSpPr>
          <p:cNvPr id="10" name="Rectangle 9"/>
          <p:cNvSpPr/>
          <p:nvPr/>
        </p:nvSpPr>
        <p:spPr>
          <a:xfrm>
            <a:off x="457200" y="1673352"/>
            <a:ext cx="4572000" cy="5486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1700784"/>
            <a:ext cx="2103120" cy="257369"/>
          </a:xfrm>
          <a:prstGeom prst="rect">
            <a:avLst/>
          </a:prstGeom>
          <a:noFill/>
        </p:spPr>
        <p:txBody>
          <a:bodyPr wrap="square" lIns="36000" tIns="36000" rIns="36000" bIns="36000" anchor="t">
            <a:spAutoFit/>
          </a:bodyPr>
          <a:lstStyle/>
          <a:p>
            <a:pPr algn="l"/>
            <a:r>
              <a:rPr sz="1200" b="1" dirty="0">
                <a:solidFill>
                  <a:srgbClr val="272727"/>
                </a:solidFill>
                <a:latin typeface="Arial"/>
              </a:rPr>
              <a:t>Knowledge / Data Fabric</a:t>
            </a:r>
          </a:p>
        </p:txBody>
      </p:sp>
      <p:sp>
        <p:nvSpPr>
          <p:cNvPr id="12" name="TextBox 11"/>
          <p:cNvSpPr txBox="1"/>
          <p:nvPr/>
        </p:nvSpPr>
        <p:spPr>
          <a:xfrm>
            <a:off x="594360" y="1929384"/>
            <a:ext cx="4114800" cy="226591"/>
          </a:xfrm>
          <a:prstGeom prst="rect">
            <a:avLst/>
          </a:prstGeom>
          <a:noFill/>
        </p:spPr>
        <p:txBody>
          <a:bodyPr wrap="square" lIns="36000" tIns="36000" rIns="36000" bIns="36000" anchor="t">
            <a:spAutoFit/>
          </a:bodyPr>
          <a:lstStyle/>
          <a:p>
            <a:pPr algn="l"/>
            <a:r>
              <a:rPr sz="1000" b="0">
                <a:solidFill>
                  <a:srgbClr val="272727"/>
                </a:solidFill>
                <a:latin typeface="Arial"/>
              </a:rPr>
              <a:t>Programs · dossiers · content · faculty · learners · feedback</a:t>
            </a:r>
          </a:p>
        </p:txBody>
      </p:sp>
      <p:sp>
        <p:nvSpPr>
          <p:cNvPr id="13" name="Rectangle 12"/>
          <p:cNvSpPr/>
          <p:nvPr/>
        </p:nvSpPr>
        <p:spPr>
          <a:xfrm>
            <a:off x="457200" y="2295144"/>
            <a:ext cx="4572000" cy="54864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2322576"/>
            <a:ext cx="2103120" cy="257369"/>
          </a:xfrm>
          <a:prstGeom prst="rect">
            <a:avLst/>
          </a:prstGeom>
          <a:noFill/>
        </p:spPr>
        <p:txBody>
          <a:bodyPr wrap="square" lIns="36000" tIns="36000" rIns="36000" bIns="36000" anchor="t">
            <a:spAutoFit/>
          </a:bodyPr>
          <a:lstStyle/>
          <a:p>
            <a:pPr algn="l"/>
            <a:r>
              <a:rPr sz="1200" b="1" dirty="0">
                <a:solidFill>
                  <a:srgbClr val="E8901E"/>
                </a:solidFill>
                <a:latin typeface="Arial"/>
              </a:rPr>
              <a:t>AI Intelligence Engines</a:t>
            </a:r>
          </a:p>
        </p:txBody>
      </p:sp>
      <p:sp>
        <p:nvSpPr>
          <p:cNvPr id="15" name="TextBox 14"/>
          <p:cNvSpPr txBox="1"/>
          <p:nvPr/>
        </p:nvSpPr>
        <p:spPr>
          <a:xfrm>
            <a:off x="594360" y="2551176"/>
            <a:ext cx="4114800" cy="226591"/>
          </a:xfrm>
          <a:prstGeom prst="rect">
            <a:avLst/>
          </a:prstGeom>
          <a:noFill/>
        </p:spPr>
        <p:txBody>
          <a:bodyPr wrap="square" lIns="36000" tIns="36000" rIns="36000" bIns="36000" anchor="t">
            <a:spAutoFit/>
          </a:bodyPr>
          <a:lstStyle/>
          <a:p>
            <a:pPr algn="l"/>
            <a:r>
              <a:rPr sz="1000" b="0">
                <a:solidFill>
                  <a:srgbClr val="CCCCCC"/>
                </a:solidFill>
                <a:latin typeface="Arial"/>
              </a:rPr>
              <a:t>Demand Brain · Journey Studio · Delivery Engine · Concierge</a:t>
            </a:r>
          </a:p>
        </p:txBody>
      </p:sp>
      <p:sp>
        <p:nvSpPr>
          <p:cNvPr id="16" name="Rectangle 15"/>
          <p:cNvSpPr/>
          <p:nvPr/>
        </p:nvSpPr>
        <p:spPr>
          <a:xfrm>
            <a:off x="457200" y="2916936"/>
            <a:ext cx="4572000" cy="5486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2944368"/>
            <a:ext cx="2103120" cy="257369"/>
          </a:xfrm>
          <a:prstGeom prst="rect">
            <a:avLst/>
          </a:prstGeom>
          <a:noFill/>
        </p:spPr>
        <p:txBody>
          <a:bodyPr wrap="square" lIns="36000" tIns="36000" rIns="36000" bIns="36000" anchor="t">
            <a:spAutoFit/>
          </a:bodyPr>
          <a:lstStyle/>
          <a:p>
            <a:pPr algn="l"/>
            <a:r>
              <a:rPr sz="1200" b="1" dirty="0">
                <a:solidFill>
                  <a:srgbClr val="272727"/>
                </a:solidFill>
                <a:latin typeface="Arial"/>
              </a:rPr>
              <a:t>Role Workbenches</a:t>
            </a:r>
          </a:p>
        </p:txBody>
      </p:sp>
      <p:sp>
        <p:nvSpPr>
          <p:cNvPr id="18" name="TextBox 17"/>
          <p:cNvSpPr txBox="1"/>
          <p:nvPr/>
        </p:nvSpPr>
        <p:spPr>
          <a:xfrm>
            <a:off x="594360" y="3172968"/>
            <a:ext cx="4114800" cy="226591"/>
          </a:xfrm>
          <a:prstGeom prst="rect">
            <a:avLst/>
          </a:prstGeom>
          <a:noFill/>
        </p:spPr>
        <p:txBody>
          <a:bodyPr wrap="square" lIns="36000" tIns="36000" rIns="36000" bIns="36000" anchor="t">
            <a:spAutoFit/>
          </a:bodyPr>
          <a:lstStyle/>
          <a:p>
            <a:pPr algn="l"/>
            <a:r>
              <a:rPr sz="1000" b="0" dirty="0">
                <a:solidFill>
                  <a:srgbClr val="272727"/>
                </a:solidFill>
                <a:latin typeface="Arial"/>
              </a:rPr>
              <a:t>PD · PM · PC · Learner · Alumnus </a:t>
            </a:r>
            <a:r>
              <a:rPr lang="en-US" sz="1000" b="0" dirty="0">
                <a:solidFill>
                  <a:srgbClr val="272727"/>
                </a:solidFill>
                <a:latin typeface="Arial"/>
              </a:rPr>
              <a:t>-</a:t>
            </a:r>
            <a:r>
              <a:rPr sz="1000" b="0" dirty="0">
                <a:solidFill>
                  <a:srgbClr val="272727"/>
                </a:solidFill>
                <a:latin typeface="Arial"/>
              </a:rPr>
              <a:t> role-specific AI surfaces</a:t>
            </a:r>
          </a:p>
        </p:txBody>
      </p:sp>
      <p:sp>
        <p:nvSpPr>
          <p:cNvPr id="19" name="Rectangle 18"/>
          <p:cNvSpPr/>
          <p:nvPr/>
        </p:nvSpPr>
        <p:spPr>
          <a:xfrm>
            <a:off x="457200" y="3538728"/>
            <a:ext cx="4572000" cy="54864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 y="3566160"/>
            <a:ext cx="2103120" cy="257369"/>
          </a:xfrm>
          <a:prstGeom prst="rect">
            <a:avLst/>
          </a:prstGeom>
          <a:noFill/>
        </p:spPr>
        <p:txBody>
          <a:bodyPr wrap="square" lIns="36000" tIns="36000" rIns="36000" bIns="36000" anchor="t">
            <a:spAutoFit/>
          </a:bodyPr>
          <a:lstStyle/>
          <a:p>
            <a:pPr algn="l"/>
            <a:r>
              <a:rPr sz="1200" b="1" dirty="0">
                <a:solidFill>
                  <a:srgbClr val="E8901E"/>
                </a:solidFill>
                <a:latin typeface="Arial"/>
              </a:rPr>
              <a:t>Human Decision Gates</a:t>
            </a:r>
          </a:p>
        </p:txBody>
      </p:sp>
      <p:sp>
        <p:nvSpPr>
          <p:cNvPr id="21" name="TextBox 20"/>
          <p:cNvSpPr txBox="1"/>
          <p:nvPr/>
        </p:nvSpPr>
        <p:spPr>
          <a:xfrm>
            <a:off x="594360" y="3794760"/>
            <a:ext cx="4114800" cy="226591"/>
          </a:xfrm>
          <a:prstGeom prst="rect">
            <a:avLst/>
          </a:prstGeom>
          <a:noFill/>
        </p:spPr>
        <p:txBody>
          <a:bodyPr wrap="square" lIns="36000" tIns="36000" rIns="36000" bIns="36000" anchor="t">
            <a:spAutoFit/>
          </a:bodyPr>
          <a:lstStyle/>
          <a:p>
            <a:pPr algn="l"/>
            <a:r>
              <a:rPr lang="en-US" sz="1000" b="0" dirty="0" err="1">
                <a:solidFill>
                  <a:srgbClr val="CCCCCC"/>
                </a:solidFill>
                <a:latin typeface="Arial"/>
              </a:rPr>
              <a:t>Progaram</a:t>
            </a:r>
            <a:r>
              <a:rPr lang="en-US" sz="1000" b="0" dirty="0">
                <a:solidFill>
                  <a:srgbClr val="CCCCCC"/>
                </a:solidFill>
                <a:latin typeface="Arial"/>
              </a:rPr>
              <a:t> </a:t>
            </a:r>
            <a:r>
              <a:rPr sz="1000" b="0" dirty="0">
                <a:solidFill>
                  <a:srgbClr val="CCCCCC"/>
                </a:solidFill>
                <a:latin typeface="Arial"/>
              </a:rPr>
              <a:t>Route · </a:t>
            </a:r>
            <a:r>
              <a:rPr lang="en-US" sz="1000" b="0" dirty="0">
                <a:solidFill>
                  <a:srgbClr val="CCCCCC"/>
                </a:solidFill>
                <a:latin typeface="Arial"/>
              </a:rPr>
              <a:t>Program </a:t>
            </a:r>
            <a:r>
              <a:rPr sz="1000" b="0" dirty="0">
                <a:solidFill>
                  <a:srgbClr val="CCCCCC"/>
                </a:solidFill>
                <a:latin typeface="Arial"/>
              </a:rPr>
              <a:t>design · faculty · budget · impact approvals</a:t>
            </a:r>
          </a:p>
        </p:txBody>
      </p:sp>
      <p:sp>
        <p:nvSpPr>
          <p:cNvPr id="22" name="Rectangle 21"/>
          <p:cNvSpPr/>
          <p:nvPr/>
        </p:nvSpPr>
        <p:spPr>
          <a:xfrm>
            <a:off x="457200" y="4160520"/>
            <a:ext cx="4572000" cy="5486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4187952"/>
            <a:ext cx="2103120" cy="257369"/>
          </a:xfrm>
          <a:prstGeom prst="rect">
            <a:avLst/>
          </a:prstGeom>
          <a:noFill/>
        </p:spPr>
        <p:txBody>
          <a:bodyPr wrap="square" lIns="36000" tIns="36000" rIns="36000" bIns="36000" anchor="t">
            <a:spAutoFit/>
          </a:bodyPr>
          <a:lstStyle/>
          <a:p>
            <a:pPr algn="l"/>
            <a:r>
              <a:rPr sz="1200" b="1" dirty="0">
                <a:solidFill>
                  <a:srgbClr val="272727"/>
                </a:solidFill>
                <a:latin typeface="Arial"/>
              </a:rPr>
              <a:t>Learning Loop</a:t>
            </a:r>
          </a:p>
        </p:txBody>
      </p:sp>
      <p:sp>
        <p:nvSpPr>
          <p:cNvPr id="24" name="TextBox 23"/>
          <p:cNvSpPr txBox="1"/>
          <p:nvPr/>
        </p:nvSpPr>
        <p:spPr>
          <a:xfrm>
            <a:off x="594360" y="4416552"/>
            <a:ext cx="4114800" cy="226591"/>
          </a:xfrm>
          <a:prstGeom prst="rect">
            <a:avLst/>
          </a:prstGeom>
          <a:noFill/>
        </p:spPr>
        <p:txBody>
          <a:bodyPr wrap="square" lIns="36000" tIns="36000" rIns="36000" bIns="36000" anchor="t">
            <a:spAutoFit/>
          </a:bodyPr>
          <a:lstStyle/>
          <a:p>
            <a:pPr algn="l"/>
            <a:r>
              <a:rPr sz="1000" b="0" dirty="0">
                <a:solidFill>
                  <a:srgbClr val="272727"/>
                </a:solidFill>
                <a:latin typeface="Arial"/>
              </a:rPr>
              <a:t>Every program updates content · ratings · cohort insights · next recs</a:t>
            </a:r>
          </a:p>
        </p:txBody>
      </p:sp>
      <p:sp>
        <p:nvSpPr>
          <p:cNvPr id="25" name="TextBox 24"/>
          <p:cNvSpPr txBox="1"/>
          <p:nvPr/>
        </p:nvSpPr>
        <p:spPr>
          <a:xfrm>
            <a:off x="5303520" y="960120"/>
            <a:ext cx="3200400" cy="288147"/>
          </a:xfrm>
          <a:prstGeom prst="rect">
            <a:avLst/>
          </a:prstGeom>
          <a:noFill/>
        </p:spPr>
        <p:txBody>
          <a:bodyPr wrap="square" lIns="36000" tIns="36000" rIns="36000" bIns="36000" anchor="t">
            <a:spAutoFit/>
          </a:bodyPr>
          <a:lstStyle/>
          <a:p>
            <a:pPr algn="l"/>
            <a:r>
              <a:rPr sz="1400" b="1" dirty="0">
                <a:solidFill>
                  <a:srgbClr val="001B5B"/>
                </a:solidFill>
                <a:latin typeface="Arial"/>
              </a:rPr>
              <a:t>FIVE ROLE WORKBENCHES</a:t>
            </a:r>
          </a:p>
        </p:txBody>
      </p:sp>
      <p:sp>
        <p:nvSpPr>
          <p:cNvPr id="26" name="Rectangle 25"/>
          <p:cNvSpPr/>
          <p:nvPr/>
        </p:nvSpPr>
        <p:spPr>
          <a:xfrm>
            <a:off x="5303520" y="1325880"/>
            <a:ext cx="3383280" cy="5486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303520" y="1325880"/>
            <a:ext cx="640080" cy="54864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349240" y="1468121"/>
            <a:ext cx="548640" cy="320040"/>
          </a:xfrm>
          <a:prstGeom prst="rect">
            <a:avLst/>
          </a:prstGeom>
          <a:noFill/>
        </p:spPr>
        <p:txBody>
          <a:bodyPr wrap="square" lIns="36000" tIns="36000" rIns="36000" bIns="36000" anchor="t">
            <a:spAutoFit/>
          </a:bodyPr>
          <a:lstStyle/>
          <a:p>
            <a:pPr algn="ctr"/>
            <a:r>
              <a:rPr sz="1000" b="1" dirty="0">
                <a:solidFill>
                  <a:srgbClr val="FFFFFF"/>
                </a:solidFill>
                <a:latin typeface="Arial"/>
              </a:rPr>
              <a:t>PD</a:t>
            </a:r>
          </a:p>
        </p:txBody>
      </p:sp>
      <p:sp>
        <p:nvSpPr>
          <p:cNvPr id="29" name="TextBox 28"/>
          <p:cNvSpPr txBox="1"/>
          <p:nvPr/>
        </p:nvSpPr>
        <p:spPr>
          <a:xfrm>
            <a:off x="6035040" y="1475232"/>
            <a:ext cx="2560320" cy="241980"/>
          </a:xfrm>
          <a:prstGeom prst="rect">
            <a:avLst/>
          </a:prstGeom>
          <a:noFill/>
        </p:spPr>
        <p:txBody>
          <a:bodyPr wrap="square" lIns="36000" tIns="36000" rIns="36000" bIns="36000" anchor="t">
            <a:spAutoFit/>
          </a:bodyPr>
          <a:lstStyle/>
          <a:p>
            <a:pPr algn="l"/>
            <a:r>
              <a:rPr sz="1100" b="0" dirty="0">
                <a:solidFill>
                  <a:srgbClr val="272727"/>
                </a:solidFill>
                <a:latin typeface="Arial"/>
              </a:rPr>
              <a:t>AI-assisted</a:t>
            </a:r>
            <a:r>
              <a:rPr lang="en-US" sz="1100" b="0" dirty="0">
                <a:solidFill>
                  <a:srgbClr val="272727"/>
                </a:solidFill>
                <a:latin typeface="Arial"/>
              </a:rPr>
              <a:t> </a:t>
            </a:r>
            <a:r>
              <a:rPr sz="1100" b="0" dirty="0">
                <a:solidFill>
                  <a:srgbClr val="272727"/>
                </a:solidFill>
                <a:latin typeface="Arial"/>
              </a:rPr>
              <a:t>learning strategist</a:t>
            </a:r>
          </a:p>
        </p:txBody>
      </p:sp>
      <p:sp>
        <p:nvSpPr>
          <p:cNvPr id="30" name="Rectangle 29"/>
          <p:cNvSpPr/>
          <p:nvPr/>
        </p:nvSpPr>
        <p:spPr>
          <a:xfrm>
            <a:off x="5303520" y="1965960"/>
            <a:ext cx="3383280" cy="5486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303520" y="1965960"/>
            <a:ext cx="640080" cy="54864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349240" y="2116667"/>
            <a:ext cx="548640" cy="320040"/>
          </a:xfrm>
          <a:prstGeom prst="rect">
            <a:avLst/>
          </a:prstGeom>
          <a:noFill/>
        </p:spPr>
        <p:txBody>
          <a:bodyPr wrap="square" lIns="36000" tIns="36000" rIns="36000" bIns="36000" anchor="t">
            <a:spAutoFit/>
          </a:bodyPr>
          <a:lstStyle/>
          <a:p>
            <a:pPr algn="ctr"/>
            <a:r>
              <a:rPr sz="1000" b="1" dirty="0">
                <a:solidFill>
                  <a:srgbClr val="FFFFFF"/>
                </a:solidFill>
                <a:latin typeface="Arial"/>
              </a:rPr>
              <a:t>PM</a:t>
            </a:r>
          </a:p>
        </p:txBody>
      </p:sp>
      <p:sp>
        <p:nvSpPr>
          <p:cNvPr id="33" name="TextBox 32"/>
          <p:cNvSpPr txBox="1"/>
          <p:nvPr/>
        </p:nvSpPr>
        <p:spPr>
          <a:xfrm>
            <a:off x="6035040" y="2115311"/>
            <a:ext cx="2560320" cy="241980"/>
          </a:xfrm>
          <a:prstGeom prst="rect">
            <a:avLst/>
          </a:prstGeom>
          <a:noFill/>
        </p:spPr>
        <p:txBody>
          <a:bodyPr wrap="square" lIns="36000" tIns="36000" rIns="36000" bIns="36000" anchor="t">
            <a:spAutoFit/>
          </a:bodyPr>
          <a:lstStyle/>
          <a:p>
            <a:pPr algn="l"/>
            <a:r>
              <a:rPr sz="1100" b="0" dirty="0">
                <a:solidFill>
                  <a:srgbClr val="272727"/>
                </a:solidFill>
                <a:latin typeface="Arial"/>
              </a:rPr>
              <a:t>Learning journey</a:t>
            </a:r>
            <a:r>
              <a:rPr lang="en-US" sz="1100" b="0" dirty="0">
                <a:solidFill>
                  <a:srgbClr val="272727"/>
                </a:solidFill>
                <a:latin typeface="Arial"/>
              </a:rPr>
              <a:t> </a:t>
            </a:r>
            <a:r>
              <a:rPr sz="1100" b="0" dirty="0">
                <a:solidFill>
                  <a:srgbClr val="272727"/>
                </a:solidFill>
                <a:latin typeface="Arial"/>
              </a:rPr>
              <a:t>product owner</a:t>
            </a:r>
          </a:p>
        </p:txBody>
      </p:sp>
      <p:sp>
        <p:nvSpPr>
          <p:cNvPr id="34" name="Rectangle 33"/>
          <p:cNvSpPr/>
          <p:nvPr/>
        </p:nvSpPr>
        <p:spPr>
          <a:xfrm>
            <a:off x="5303520" y="2606040"/>
            <a:ext cx="3383280" cy="5486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5303520" y="2606040"/>
            <a:ext cx="640080" cy="54864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349240" y="2765216"/>
            <a:ext cx="548640" cy="320040"/>
          </a:xfrm>
          <a:prstGeom prst="rect">
            <a:avLst/>
          </a:prstGeom>
          <a:noFill/>
        </p:spPr>
        <p:txBody>
          <a:bodyPr wrap="square" lIns="36000" tIns="36000" rIns="36000" bIns="36000" anchor="t">
            <a:spAutoFit/>
          </a:bodyPr>
          <a:lstStyle/>
          <a:p>
            <a:pPr algn="ctr"/>
            <a:r>
              <a:rPr sz="1000" b="1" dirty="0">
                <a:solidFill>
                  <a:srgbClr val="FFFFFF"/>
                </a:solidFill>
                <a:latin typeface="Arial"/>
              </a:rPr>
              <a:t>PC</a:t>
            </a:r>
          </a:p>
        </p:txBody>
      </p:sp>
      <p:sp>
        <p:nvSpPr>
          <p:cNvPr id="37" name="TextBox 36"/>
          <p:cNvSpPr txBox="1"/>
          <p:nvPr/>
        </p:nvSpPr>
        <p:spPr>
          <a:xfrm>
            <a:off x="6035040" y="2755393"/>
            <a:ext cx="2560320" cy="241980"/>
          </a:xfrm>
          <a:prstGeom prst="rect">
            <a:avLst/>
          </a:prstGeom>
          <a:noFill/>
        </p:spPr>
        <p:txBody>
          <a:bodyPr wrap="square" lIns="36000" tIns="36000" rIns="36000" bIns="36000" anchor="t">
            <a:spAutoFit/>
          </a:bodyPr>
          <a:lstStyle/>
          <a:p>
            <a:pPr algn="l"/>
            <a:r>
              <a:rPr sz="1100" b="0" dirty="0">
                <a:solidFill>
                  <a:srgbClr val="272727"/>
                </a:solidFill>
                <a:latin typeface="Arial"/>
              </a:rPr>
              <a:t>AI-orchestrated</a:t>
            </a:r>
            <a:r>
              <a:rPr lang="en-US" sz="1100" b="0" dirty="0">
                <a:solidFill>
                  <a:srgbClr val="272727"/>
                </a:solidFill>
                <a:latin typeface="Arial"/>
              </a:rPr>
              <a:t> </a:t>
            </a:r>
            <a:r>
              <a:rPr sz="1100" b="0" dirty="0">
                <a:solidFill>
                  <a:srgbClr val="272727"/>
                </a:solidFill>
                <a:latin typeface="Arial"/>
              </a:rPr>
              <a:t>delivery manager</a:t>
            </a:r>
          </a:p>
        </p:txBody>
      </p:sp>
      <p:sp>
        <p:nvSpPr>
          <p:cNvPr id="38" name="Rectangle 37"/>
          <p:cNvSpPr/>
          <p:nvPr/>
        </p:nvSpPr>
        <p:spPr>
          <a:xfrm>
            <a:off x="5303520" y="3246120"/>
            <a:ext cx="3383280" cy="5486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303520" y="3246120"/>
            <a:ext cx="640080" cy="54864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349240" y="3413763"/>
            <a:ext cx="548640" cy="320040"/>
          </a:xfrm>
          <a:prstGeom prst="rect">
            <a:avLst/>
          </a:prstGeom>
          <a:noFill/>
        </p:spPr>
        <p:txBody>
          <a:bodyPr wrap="square" lIns="36000" tIns="36000" rIns="36000" bIns="36000" anchor="t">
            <a:spAutoFit/>
          </a:bodyPr>
          <a:lstStyle/>
          <a:p>
            <a:pPr algn="ctr"/>
            <a:r>
              <a:rPr sz="1000" b="1" dirty="0">
                <a:solidFill>
                  <a:srgbClr val="FFFFFF"/>
                </a:solidFill>
                <a:latin typeface="Arial"/>
              </a:rPr>
              <a:t>Learner</a:t>
            </a:r>
          </a:p>
        </p:txBody>
      </p:sp>
      <p:sp>
        <p:nvSpPr>
          <p:cNvPr id="41" name="TextBox 40"/>
          <p:cNvSpPr txBox="1"/>
          <p:nvPr/>
        </p:nvSpPr>
        <p:spPr>
          <a:xfrm>
            <a:off x="6035040" y="3403939"/>
            <a:ext cx="2560320" cy="241980"/>
          </a:xfrm>
          <a:prstGeom prst="rect">
            <a:avLst/>
          </a:prstGeom>
          <a:noFill/>
        </p:spPr>
        <p:txBody>
          <a:bodyPr wrap="square" lIns="36000" tIns="36000" rIns="36000" bIns="36000" anchor="t">
            <a:spAutoFit/>
          </a:bodyPr>
          <a:lstStyle/>
          <a:p>
            <a:pPr algn="l"/>
            <a:r>
              <a:rPr sz="1100" b="0" dirty="0">
                <a:solidFill>
                  <a:srgbClr val="272727"/>
                </a:solidFill>
                <a:latin typeface="Arial"/>
              </a:rPr>
              <a:t>Continuous</a:t>
            </a:r>
            <a:r>
              <a:rPr lang="en-US" sz="1100" b="0" dirty="0">
                <a:solidFill>
                  <a:srgbClr val="272727"/>
                </a:solidFill>
                <a:latin typeface="Arial"/>
              </a:rPr>
              <a:t> </a:t>
            </a:r>
            <a:r>
              <a:rPr sz="1100" b="0" dirty="0">
                <a:solidFill>
                  <a:srgbClr val="272727"/>
                </a:solidFill>
                <a:latin typeface="Arial"/>
              </a:rPr>
              <a:t>learner</a:t>
            </a:r>
          </a:p>
        </p:txBody>
      </p:sp>
      <p:sp>
        <p:nvSpPr>
          <p:cNvPr id="42" name="Rectangle 41"/>
          <p:cNvSpPr/>
          <p:nvPr/>
        </p:nvSpPr>
        <p:spPr>
          <a:xfrm>
            <a:off x="5303520" y="3886200"/>
            <a:ext cx="3383280" cy="5486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5303520" y="3886200"/>
            <a:ext cx="640080" cy="54864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289971" y="4028442"/>
            <a:ext cx="685800" cy="226591"/>
          </a:xfrm>
          <a:prstGeom prst="rect">
            <a:avLst/>
          </a:prstGeom>
          <a:noFill/>
        </p:spPr>
        <p:txBody>
          <a:bodyPr wrap="square" lIns="36000" tIns="36000" rIns="36000" bIns="36000" anchor="t">
            <a:spAutoFit/>
          </a:bodyPr>
          <a:lstStyle/>
          <a:p>
            <a:pPr algn="ctr"/>
            <a:r>
              <a:rPr sz="1000" b="1" dirty="0">
                <a:solidFill>
                  <a:srgbClr val="FFFFFF"/>
                </a:solidFill>
                <a:latin typeface="Arial"/>
              </a:rPr>
              <a:t>Alumnus</a:t>
            </a:r>
          </a:p>
        </p:txBody>
      </p:sp>
      <p:sp>
        <p:nvSpPr>
          <p:cNvPr id="45" name="TextBox 44"/>
          <p:cNvSpPr txBox="1"/>
          <p:nvPr/>
        </p:nvSpPr>
        <p:spPr>
          <a:xfrm>
            <a:off x="6035040" y="4044021"/>
            <a:ext cx="2560320" cy="241980"/>
          </a:xfrm>
          <a:prstGeom prst="rect">
            <a:avLst/>
          </a:prstGeom>
          <a:noFill/>
        </p:spPr>
        <p:txBody>
          <a:bodyPr wrap="square" lIns="36000" tIns="36000" rIns="36000" bIns="36000" anchor="t">
            <a:spAutoFit/>
          </a:bodyPr>
          <a:lstStyle/>
          <a:p>
            <a:pPr algn="l"/>
            <a:r>
              <a:rPr sz="1100" b="0" dirty="0">
                <a:solidFill>
                  <a:srgbClr val="272727"/>
                </a:solidFill>
                <a:latin typeface="Arial"/>
              </a:rPr>
              <a:t>Living leadership</a:t>
            </a:r>
            <a:r>
              <a:rPr lang="en-US" sz="1100" b="0" dirty="0">
                <a:solidFill>
                  <a:srgbClr val="272727"/>
                </a:solidFill>
                <a:latin typeface="Arial"/>
              </a:rPr>
              <a:t> l</a:t>
            </a:r>
            <a:r>
              <a:rPr sz="1100" b="0" dirty="0">
                <a:solidFill>
                  <a:srgbClr val="272727"/>
                </a:solidFill>
                <a:latin typeface="Arial"/>
              </a:rPr>
              <a:t>earning graph</a:t>
            </a:r>
          </a:p>
        </p:txBody>
      </p:sp>
      <p:sp>
        <p:nvSpPr>
          <p:cNvPr id="46" name="TextBox 45"/>
          <p:cNvSpPr txBox="1"/>
          <p:nvPr/>
        </p:nvSpPr>
        <p:spPr>
          <a:xfrm>
            <a:off x="5303520" y="4572000"/>
            <a:ext cx="3383280" cy="228600"/>
          </a:xfrm>
          <a:prstGeom prst="rect">
            <a:avLst/>
          </a:prstGeom>
          <a:noFill/>
        </p:spPr>
        <p:txBody>
          <a:bodyPr wrap="square" lIns="36000" tIns="36000" rIns="36000" bIns="36000" anchor="t">
            <a:spAutoFit/>
          </a:bodyPr>
          <a:lstStyle/>
          <a:p>
            <a:pPr algn="ctr"/>
            <a:r>
              <a:rPr sz="900" b="1">
                <a:solidFill>
                  <a:srgbClr val="001B5B"/>
                </a:solidFill>
                <a:latin typeface="Arial"/>
              </a:rPr>
              <a:t>19 agents  ·  AI drafts, humans decide</a:t>
            </a:r>
          </a:p>
        </p:txBody>
      </p:sp>
      <p:sp>
        <p:nvSpPr>
          <p:cNvPr id="47" name="TextBox 46"/>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6 / 1</a:t>
            </a:r>
            <a:r>
              <a:rPr lang="en-US" sz="800" dirty="0">
                <a:solidFill>
                  <a:srgbClr val="999999"/>
                </a:solidFill>
                <a:latin typeface="Arial"/>
              </a:rPr>
              <a:t>1</a:t>
            </a:r>
            <a:endParaRPr sz="800" b="0" dirty="0">
              <a:solidFill>
                <a:srgbClr val="999999"/>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89615"/>
            <a:ext cx="8229600" cy="688256"/>
          </a:xfrm>
          <a:prstGeom prst="rect">
            <a:avLst/>
          </a:prstGeom>
          <a:noFill/>
        </p:spPr>
        <p:txBody>
          <a:bodyPr wrap="square" lIns="36000" tIns="36000" rIns="36000" bIns="36000" anchor="t">
            <a:spAutoFit/>
          </a:bodyPr>
          <a:lstStyle/>
          <a:p>
            <a:pPr algn="l"/>
            <a:r>
              <a:rPr sz="2000" b="1" dirty="0">
                <a:solidFill>
                  <a:srgbClr val="001B5B"/>
                </a:solidFill>
                <a:latin typeface="Arial"/>
              </a:rPr>
              <a:t>TAS today and AI-native</a:t>
            </a:r>
            <a:r>
              <a:rPr lang="en-US" sz="2000" b="1" dirty="0">
                <a:solidFill>
                  <a:srgbClr val="001B5B"/>
                </a:solidFill>
                <a:latin typeface="Arial"/>
              </a:rPr>
              <a:t> version</a:t>
            </a:r>
            <a:r>
              <a:rPr sz="2000" b="1" dirty="0">
                <a:solidFill>
                  <a:srgbClr val="001B5B"/>
                </a:solidFill>
                <a:latin typeface="Arial"/>
              </a:rPr>
              <a:t> </a:t>
            </a:r>
            <a:r>
              <a:rPr lang="en-US" sz="2000" b="1" dirty="0">
                <a:solidFill>
                  <a:srgbClr val="001B5B"/>
                </a:solidFill>
                <a:latin typeface="Arial"/>
              </a:rPr>
              <a:t>–</a:t>
            </a:r>
            <a:r>
              <a:rPr sz="2000" b="1" dirty="0">
                <a:solidFill>
                  <a:srgbClr val="001B5B"/>
                </a:solidFill>
                <a:latin typeface="Arial"/>
              </a:rPr>
              <a:t> se</a:t>
            </a:r>
            <a:r>
              <a:rPr lang="en-US" sz="2000" b="1" dirty="0">
                <a:solidFill>
                  <a:srgbClr val="001B5B"/>
                </a:solidFill>
                <a:latin typeface="Arial"/>
              </a:rPr>
              <a:t>cured screening</a:t>
            </a:r>
            <a:r>
              <a:rPr sz="2000" b="1" dirty="0">
                <a:solidFill>
                  <a:srgbClr val="001B5B"/>
                </a:solidFill>
                <a:latin typeface="Arial"/>
              </a:rPr>
              <a:t> rubric, confidence gates, 17 agents</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a:rPr>
              <a:t>AI-NATIVE </a:t>
            </a:r>
            <a:r>
              <a:rPr lang="en-US" sz="800" b="0" dirty="0">
                <a:solidFill>
                  <a:srgbClr val="999999"/>
                </a:solidFill>
                <a:latin typeface="Arial"/>
              </a:rPr>
              <a:t>GROUP </a:t>
            </a:r>
            <a:r>
              <a:rPr sz="800" b="0" dirty="0">
                <a:solidFill>
                  <a:srgbClr val="999999"/>
                </a:solidFill>
                <a:latin typeface="Arial"/>
              </a:rPr>
              <a:t>HR · PANEL PRESENTATION</a:t>
            </a:r>
          </a:p>
        </p:txBody>
      </p:sp>
      <p:sp>
        <p:nvSpPr>
          <p:cNvPr id="6" name="TextBox 5"/>
          <p:cNvSpPr txBox="1"/>
          <p:nvPr/>
        </p:nvSpPr>
        <p:spPr>
          <a:xfrm>
            <a:off x="457200" y="809498"/>
            <a:ext cx="2743200" cy="226591"/>
          </a:xfrm>
          <a:prstGeom prst="rect">
            <a:avLst/>
          </a:prstGeom>
          <a:noFill/>
        </p:spPr>
        <p:txBody>
          <a:bodyPr wrap="square" lIns="36000" tIns="36000" rIns="36000" bIns="36000" anchor="t">
            <a:spAutoFit/>
          </a:bodyPr>
          <a:lstStyle/>
          <a:p>
            <a:pPr algn="l"/>
            <a:r>
              <a:rPr sz="1000" b="1" dirty="0">
                <a:solidFill>
                  <a:srgbClr val="E8901E"/>
                </a:solidFill>
                <a:latin typeface="Arial"/>
              </a:rPr>
              <a:t>KEY FINDINGS &amp; ANALYSIS</a:t>
            </a:r>
          </a:p>
        </p:txBody>
      </p:sp>
      <p:sp>
        <p:nvSpPr>
          <p:cNvPr id="7" name="TextBox 6"/>
          <p:cNvSpPr txBox="1"/>
          <p:nvPr/>
        </p:nvSpPr>
        <p:spPr>
          <a:xfrm>
            <a:off x="457200" y="960120"/>
            <a:ext cx="2743200" cy="226591"/>
          </a:xfrm>
          <a:prstGeom prst="rect">
            <a:avLst/>
          </a:prstGeom>
          <a:noFill/>
        </p:spPr>
        <p:txBody>
          <a:bodyPr wrap="square" lIns="36000" tIns="36000" rIns="36000" bIns="36000" anchor="t">
            <a:spAutoFit/>
          </a:bodyPr>
          <a:lstStyle/>
          <a:p>
            <a:pPr algn="l"/>
            <a:r>
              <a:rPr sz="1000" b="1" dirty="0">
                <a:solidFill>
                  <a:srgbClr val="001B5B"/>
                </a:solidFill>
                <a:latin typeface="Arial"/>
              </a:rPr>
              <a:t>CURRENT </a:t>
            </a:r>
            <a:r>
              <a:rPr lang="en-US" sz="1000" b="1" dirty="0">
                <a:solidFill>
                  <a:srgbClr val="001B5B"/>
                </a:solidFill>
                <a:latin typeface="Arial"/>
              </a:rPr>
              <a:t>PROCESS MAP</a:t>
            </a:r>
            <a:endParaRPr sz="1000" b="1" dirty="0">
              <a:solidFill>
                <a:srgbClr val="001B5B"/>
              </a:solidFill>
              <a:latin typeface="Arial"/>
            </a:endParaRPr>
          </a:p>
        </p:txBody>
      </p:sp>
      <p:sp>
        <p:nvSpPr>
          <p:cNvPr id="8" name="Rectangle 7"/>
          <p:cNvSpPr/>
          <p:nvPr/>
        </p:nvSpPr>
        <p:spPr>
          <a:xfrm>
            <a:off x="457200" y="1234440"/>
            <a:ext cx="1005840" cy="59436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345952"/>
            <a:ext cx="914400" cy="380480"/>
          </a:xfrm>
          <a:prstGeom prst="rect">
            <a:avLst/>
          </a:prstGeom>
          <a:noFill/>
        </p:spPr>
        <p:txBody>
          <a:bodyPr wrap="square" lIns="36000" tIns="36000" rIns="36000" bIns="36000" anchor="ctr">
            <a:spAutoFit/>
          </a:bodyPr>
          <a:lstStyle/>
          <a:p>
            <a:pPr algn="ctr"/>
            <a:r>
              <a:rPr sz="1000" b="0" dirty="0">
                <a:solidFill>
                  <a:srgbClr val="272727"/>
                </a:solidFill>
                <a:latin typeface="Arial"/>
              </a:rPr>
              <a:t>Demand</a:t>
            </a:r>
          </a:p>
          <a:p>
            <a:pPr algn="ctr"/>
            <a:r>
              <a:rPr sz="1000" b="0" dirty="0">
                <a:solidFill>
                  <a:srgbClr val="272727"/>
                </a:solidFill>
                <a:latin typeface="Arial"/>
              </a:rPr>
              <a:t>sensing</a:t>
            </a:r>
          </a:p>
        </p:txBody>
      </p:sp>
      <p:sp>
        <p:nvSpPr>
          <p:cNvPr id="10" name="Rectangle 9"/>
          <p:cNvSpPr/>
          <p:nvPr/>
        </p:nvSpPr>
        <p:spPr>
          <a:xfrm>
            <a:off x="1508760" y="1234440"/>
            <a:ext cx="1005840" cy="59436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54480" y="1345952"/>
            <a:ext cx="914400" cy="380480"/>
          </a:xfrm>
          <a:prstGeom prst="rect">
            <a:avLst/>
          </a:prstGeom>
          <a:noFill/>
        </p:spPr>
        <p:txBody>
          <a:bodyPr wrap="square" lIns="36000" tIns="36000" rIns="36000" bIns="36000" anchor="ctr">
            <a:spAutoFit/>
          </a:bodyPr>
          <a:lstStyle/>
          <a:p>
            <a:pPr algn="ctr"/>
            <a:r>
              <a:rPr sz="1000" b="0">
                <a:solidFill>
                  <a:srgbClr val="272727"/>
                </a:solidFill>
                <a:latin typeface="Arial"/>
              </a:rPr>
              <a:t>Channel</a:t>
            </a:r>
          </a:p>
          <a:p>
            <a:pPr algn="ctr"/>
            <a:r>
              <a:rPr sz="1000" b="0">
                <a:solidFill>
                  <a:srgbClr val="272727"/>
                </a:solidFill>
                <a:latin typeface="Arial"/>
              </a:rPr>
              <a:t>planning</a:t>
            </a:r>
          </a:p>
        </p:txBody>
      </p:sp>
      <p:sp>
        <p:nvSpPr>
          <p:cNvPr id="12" name="Rectangle 11"/>
          <p:cNvSpPr/>
          <p:nvPr/>
        </p:nvSpPr>
        <p:spPr>
          <a:xfrm>
            <a:off x="2560320" y="1234440"/>
            <a:ext cx="1005840" cy="594360"/>
          </a:xfrm>
          <a:prstGeom prst="rect">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06040" y="1345952"/>
            <a:ext cx="914400" cy="380480"/>
          </a:xfrm>
          <a:prstGeom prst="rect">
            <a:avLst/>
          </a:prstGeom>
          <a:noFill/>
        </p:spPr>
        <p:txBody>
          <a:bodyPr wrap="square" lIns="36000" tIns="36000" rIns="36000" bIns="36000" anchor="ctr">
            <a:spAutoFit/>
          </a:bodyPr>
          <a:lstStyle/>
          <a:p>
            <a:pPr algn="ctr"/>
            <a:r>
              <a:rPr sz="1000" b="0">
                <a:solidFill>
                  <a:srgbClr val="272727"/>
                </a:solidFill>
                <a:latin typeface="Arial"/>
              </a:rPr>
              <a:t>Source &amp;</a:t>
            </a:r>
          </a:p>
          <a:p>
            <a:pPr algn="ctr"/>
            <a:r>
              <a:rPr sz="1000" b="0">
                <a:solidFill>
                  <a:srgbClr val="272727"/>
                </a:solidFill>
                <a:latin typeface="Arial"/>
              </a:rPr>
              <a:t>screen</a:t>
            </a:r>
          </a:p>
        </p:txBody>
      </p:sp>
      <p:sp>
        <p:nvSpPr>
          <p:cNvPr id="14" name="Rectangle 13"/>
          <p:cNvSpPr/>
          <p:nvPr/>
        </p:nvSpPr>
        <p:spPr>
          <a:xfrm>
            <a:off x="3611880" y="1234440"/>
            <a:ext cx="1005840" cy="59436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0" y="1345952"/>
            <a:ext cx="914400" cy="380480"/>
          </a:xfrm>
          <a:prstGeom prst="rect">
            <a:avLst/>
          </a:prstGeom>
          <a:noFill/>
        </p:spPr>
        <p:txBody>
          <a:bodyPr wrap="square" lIns="36000" tIns="36000" rIns="36000" bIns="36000" anchor="ctr">
            <a:spAutoFit/>
          </a:bodyPr>
          <a:lstStyle/>
          <a:p>
            <a:pPr algn="ctr"/>
            <a:r>
              <a:rPr sz="1000" b="0">
                <a:solidFill>
                  <a:srgbClr val="272727"/>
                </a:solidFill>
                <a:latin typeface="Arial"/>
              </a:rPr>
              <a:t>Selection</a:t>
            </a:r>
          </a:p>
          <a:p>
            <a:pPr algn="ctr"/>
            <a:r>
              <a:rPr sz="1000" b="0">
                <a:solidFill>
                  <a:srgbClr val="272727"/>
                </a:solidFill>
                <a:latin typeface="Arial"/>
              </a:rPr>
              <a:t>panels</a:t>
            </a:r>
          </a:p>
        </p:txBody>
      </p:sp>
      <p:sp>
        <p:nvSpPr>
          <p:cNvPr id="16" name="Rectangle 15"/>
          <p:cNvSpPr/>
          <p:nvPr/>
        </p:nvSpPr>
        <p:spPr>
          <a:xfrm>
            <a:off x="4663440" y="1234440"/>
            <a:ext cx="1005840" cy="59436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709160" y="1345952"/>
            <a:ext cx="914400" cy="380480"/>
          </a:xfrm>
          <a:prstGeom prst="rect">
            <a:avLst/>
          </a:prstGeom>
          <a:noFill/>
        </p:spPr>
        <p:txBody>
          <a:bodyPr wrap="square" lIns="36000" tIns="36000" rIns="36000" bIns="36000" anchor="ctr">
            <a:spAutoFit/>
          </a:bodyPr>
          <a:lstStyle/>
          <a:p>
            <a:pPr algn="ctr"/>
            <a:r>
              <a:rPr sz="1000" b="0">
                <a:solidFill>
                  <a:srgbClr val="272727"/>
                </a:solidFill>
                <a:latin typeface="Arial"/>
              </a:rPr>
              <a:t>Offer &amp;</a:t>
            </a:r>
          </a:p>
          <a:p>
            <a:pPr algn="ctr"/>
            <a:r>
              <a:rPr sz="1000" b="0">
                <a:solidFill>
                  <a:srgbClr val="272727"/>
                </a:solidFill>
                <a:latin typeface="Arial"/>
              </a:rPr>
              <a:t>onboard</a:t>
            </a:r>
          </a:p>
        </p:txBody>
      </p:sp>
      <p:sp>
        <p:nvSpPr>
          <p:cNvPr id="18" name="Rectangle 17"/>
          <p:cNvSpPr/>
          <p:nvPr/>
        </p:nvSpPr>
        <p:spPr>
          <a:xfrm>
            <a:off x="5715000" y="1234440"/>
            <a:ext cx="1005840" cy="594360"/>
          </a:xfrm>
          <a:prstGeom prst="rect">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760720" y="1345952"/>
            <a:ext cx="914400" cy="380480"/>
          </a:xfrm>
          <a:prstGeom prst="rect">
            <a:avLst/>
          </a:prstGeom>
          <a:noFill/>
        </p:spPr>
        <p:txBody>
          <a:bodyPr wrap="square" lIns="36000" tIns="36000" rIns="36000" bIns="36000" anchor="ctr">
            <a:spAutoFit/>
          </a:bodyPr>
          <a:lstStyle/>
          <a:p>
            <a:pPr algn="ctr"/>
            <a:r>
              <a:rPr sz="1000" b="0">
                <a:solidFill>
                  <a:srgbClr val="272727"/>
                </a:solidFill>
                <a:latin typeface="Arial"/>
              </a:rPr>
              <a:t>Stint</a:t>
            </a:r>
          </a:p>
          <a:p>
            <a:pPr algn="ctr"/>
            <a:r>
              <a:rPr sz="1000" b="0">
                <a:solidFill>
                  <a:srgbClr val="272727"/>
                </a:solidFill>
                <a:latin typeface="Arial"/>
              </a:rPr>
              <a:t>matching</a:t>
            </a:r>
          </a:p>
        </p:txBody>
      </p:sp>
      <p:sp>
        <p:nvSpPr>
          <p:cNvPr id="20" name="Rectangle 19"/>
          <p:cNvSpPr/>
          <p:nvPr/>
        </p:nvSpPr>
        <p:spPr>
          <a:xfrm>
            <a:off x="6766560" y="1234440"/>
            <a:ext cx="1005840" cy="59436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12280" y="1345952"/>
            <a:ext cx="914400" cy="380480"/>
          </a:xfrm>
          <a:prstGeom prst="rect">
            <a:avLst/>
          </a:prstGeom>
          <a:noFill/>
        </p:spPr>
        <p:txBody>
          <a:bodyPr wrap="square" lIns="36000" tIns="36000" rIns="36000" bIns="36000" anchor="ctr">
            <a:spAutoFit/>
          </a:bodyPr>
          <a:lstStyle/>
          <a:p>
            <a:pPr algn="ctr"/>
            <a:r>
              <a:rPr sz="1000" b="0">
                <a:solidFill>
                  <a:srgbClr val="272727"/>
                </a:solidFill>
                <a:latin typeface="Arial"/>
              </a:rPr>
              <a:t>Y1–Y2</a:t>
            </a:r>
          </a:p>
          <a:p>
            <a:pPr algn="ctr"/>
            <a:r>
              <a:rPr sz="1000" b="0">
                <a:solidFill>
                  <a:srgbClr val="272727"/>
                </a:solidFill>
                <a:latin typeface="Arial"/>
              </a:rPr>
              <a:t>program</a:t>
            </a:r>
          </a:p>
        </p:txBody>
      </p:sp>
      <p:sp>
        <p:nvSpPr>
          <p:cNvPr id="22" name="Rectangle 21"/>
          <p:cNvSpPr/>
          <p:nvPr/>
        </p:nvSpPr>
        <p:spPr>
          <a:xfrm>
            <a:off x="7818120" y="1234440"/>
            <a:ext cx="1005840" cy="59436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863840" y="1345952"/>
            <a:ext cx="914400" cy="380480"/>
          </a:xfrm>
          <a:prstGeom prst="rect">
            <a:avLst/>
          </a:prstGeom>
          <a:noFill/>
        </p:spPr>
        <p:txBody>
          <a:bodyPr wrap="square" lIns="36000" tIns="36000" rIns="36000" bIns="36000" anchor="ctr">
            <a:spAutoFit/>
          </a:bodyPr>
          <a:lstStyle/>
          <a:p>
            <a:pPr algn="ctr"/>
            <a:r>
              <a:rPr sz="1000" b="0">
                <a:solidFill>
                  <a:srgbClr val="272727"/>
                </a:solidFill>
                <a:latin typeface="Arial"/>
              </a:rPr>
              <a:t>Alumni</a:t>
            </a:r>
          </a:p>
          <a:p>
            <a:pPr algn="ctr"/>
            <a:r>
              <a:rPr sz="1000" b="0">
                <a:solidFill>
                  <a:srgbClr val="272727"/>
                </a:solidFill>
                <a:latin typeface="Arial"/>
              </a:rPr>
              <a:t>network</a:t>
            </a:r>
          </a:p>
        </p:txBody>
      </p:sp>
      <p:sp>
        <p:nvSpPr>
          <p:cNvPr id="24" name="TextBox 23"/>
          <p:cNvSpPr txBox="1"/>
          <p:nvPr/>
        </p:nvSpPr>
        <p:spPr>
          <a:xfrm>
            <a:off x="457200" y="1920240"/>
            <a:ext cx="8229600" cy="226591"/>
          </a:xfrm>
          <a:prstGeom prst="rect">
            <a:avLst/>
          </a:prstGeom>
          <a:noFill/>
        </p:spPr>
        <p:txBody>
          <a:bodyPr wrap="square" lIns="36000" tIns="36000" rIns="36000" bIns="36000" anchor="t">
            <a:spAutoFit/>
          </a:bodyPr>
          <a:lstStyle/>
          <a:p>
            <a:pPr algn="l"/>
            <a:r>
              <a:rPr sz="1000" b="1" dirty="0">
                <a:solidFill>
                  <a:srgbClr val="DC2626"/>
                </a:solidFill>
                <a:latin typeface="Arial"/>
              </a:rPr>
              <a:t>4 bottlenecks: vendor data dependency · manual CV screening · project–candidate matching · Chroma sync cycle</a:t>
            </a:r>
          </a:p>
        </p:txBody>
      </p:sp>
      <p:sp>
        <p:nvSpPr>
          <p:cNvPr id="25" name="TextBox 24"/>
          <p:cNvSpPr txBox="1"/>
          <p:nvPr/>
        </p:nvSpPr>
        <p:spPr>
          <a:xfrm>
            <a:off x="457200" y="2331720"/>
            <a:ext cx="2743200" cy="288147"/>
          </a:xfrm>
          <a:prstGeom prst="rect">
            <a:avLst/>
          </a:prstGeom>
          <a:noFill/>
        </p:spPr>
        <p:txBody>
          <a:bodyPr wrap="square" lIns="36000" tIns="36000" rIns="36000" bIns="36000" anchor="t">
            <a:spAutoFit/>
          </a:bodyPr>
          <a:lstStyle/>
          <a:p>
            <a:pPr algn="l"/>
            <a:r>
              <a:rPr sz="1400" b="1" dirty="0">
                <a:solidFill>
                  <a:srgbClr val="001B5B"/>
                </a:solidFill>
                <a:latin typeface="Arial"/>
              </a:rPr>
              <a:t>AI-NATIVE MODEL</a:t>
            </a:r>
          </a:p>
        </p:txBody>
      </p:sp>
      <p:sp>
        <p:nvSpPr>
          <p:cNvPr id="26" name="Rectangle 25"/>
          <p:cNvSpPr/>
          <p:nvPr/>
        </p:nvSpPr>
        <p:spPr>
          <a:xfrm>
            <a:off x="457200" y="2651760"/>
            <a:ext cx="5029200" cy="45720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4360" y="2743200"/>
            <a:ext cx="4754880" cy="257369"/>
          </a:xfrm>
          <a:prstGeom prst="rect">
            <a:avLst/>
          </a:prstGeom>
          <a:noFill/>
        </p:spPr>
        <p:txBody>
          <a:bodyPr wrap="square" lIns="36000" tIns="36000" rIns="36000" bIns="36000" anchor="t">
            <a:spAutoFit/>
          </a:bodyPr>
          <a:lstStyle/>
          <a:p>
            <a:pPr algn="l"/>
            <a:r>
              <a:rPr sz="1200" b="1" dirty="0">
                <a:solidFill>
                  <a:srgbClr val="FFFFFF"/>
                </a:solidFill>
                <a:latin typeface="Arial"/>
              </a:rPr>
              <a:t>Demand · Orchestrate · Deliver · </a:t>
            </a:r>
            <a:r>
              <a:rPr sz="1200" b="1" dirty="0" err="1">
                <a:solidFill>
                  <a:srgbClr val="FFFFFF"/>
                </a:solidFill>
                <a:latin typeface="Arial"/>
              </a:rPr>
              <a:t>Prioritise</a:t>
            </a:r>
            <a:endParaRPr sz="1200" b="1" dirty="0">
              <a:solidFill>
                <a:srgbClr val="FFFFFF"/>
              </a:solidFill>
              <a:latin typeface="Arial"/>
            </a:endParaRPr>
          </a:p>
        </p:txBody>
      </p:sp>
      <p:sp>
        <p:nvSpPr>
          <p:cNvPr id="28" name="Rectangle 27"/>
          <p:cNvSpPr/>
          <p:nvPr/>
        </p:nvSpPr>
        <p:spPr>
          <a:xfrm>
            <a:off x="457200" y="3154680"/>
            <a:ext cx="5029200" cy="4572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94360" y="3246120"/>
            <a:ext cx="4754880" cy="257369"/>
          </a:xfrm>
          <a:prstGeom prst="rect">
            <a:avLst/>
          </a:prstGeom>
          <a:noFill/>
        </p:spPr>
        <p:txBody>
          <a:bodyPr wrap="square" lIns="36000" tIns="36000" rIns="36000" bIns="36000" anchor="t">
            <a:spAutoFit/>
          </a:bodyPr>
          <a:lstStyle/>
          <a:p>
            <a:pPr algn="l"/>
            <a:r>
              <a:rPr sz="1200" b="1" dirty="0">
                <a:solidFill>
                  <a:srgbClr val="272727"/>
                </a:solidFill>
                <a:latin typeface="Arial"/>
              </a:rPr>
              <a:t>Knowledge / Data / Governance Fabric</a:t>
            </a:r>
          </a:p>
        </p:txBody>
      </p:sp>
      <p:sp>
        <p:nvSpPr>
          <p:cNvPr id="30" name="TextBox 29"/>
          <p:cNvSpPr txBox="1"/>
          <p:nvPr/>
        </p:nvSpPr>
        <p:spPr>
          <a:xfrm>
            <a:off x="5760720" y="2331720"/>
            <a:ext cx="2743200" cy="241980"/>
          </a:xfrm>
          <a:prstGeom prst="rect">
            <a:avLst/>
          </a:prstGeom>
          <a:noFill/>
        </p:spPr>
        <p:txBody>
          <a:bodyPr wrap="square" lIns="36000" tIns="36000" rIns="36000" bIns="36000" anchor="t">
            <a:spAutoFit/>
          </a:bodyPr>
          <a:lstStyle/>
          <a:p>
            <a:pPr algn="ctr"/>
            <a:r>
              <a:rPr sz="1100" b="1" dirty="0">
                <a:solidFill>
                  <a:srgbClr val="001B5B"/>
                </a:solidFill>
                <a:latin typeface="Arial"/>
              </a:rPr>
              <a:t>6 ROLE WORKBENCHES</a:t>
            </a:r>
          </a:p>
        </p:txBody>
      </p:sp>
      <p:sp>
        <p:nvSpPr>
          <p:cNvPr id="31" name="Rectangle 30"/>
          <p:cNvSpPr/>
          <p:nvPr/>
        </p:nvSpPr>
        <p:spPr>
          <a:xfrm>
            <a:off x="5760720" y="2606040"/>
            <a:ext cx="1600200" cy="3200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833872" y="2633472"/>
            <a:ext cx="1463040" cy="226591"/>
          </a:xfrm>
          <a:prstGeom prst="rect">
            <a:avLst/>
          </a:prstGeom>
          <a:noFill/>
        </p:spPr>
        <p:txBody>
          <a:bodyPr wrap="square" lIns="36000" tIns="36000" rIns="36000" bIns="36000" anchor="t">
            <a:spAutoFit/>
          </a:bodyPr>
          <a:lstStyle/>
          <a:p>
            <a:pPr algn="l"/>
            <a:r>
              <a:rPr sz="1000" b="0" dirty="0">
                <a:solidFill>
                  <a:srgbClr val="272727"/>
                </a:solidFill>
                <a:latin typeface="Arial"/>
              </a:rPr>
              <a:t>Recruiting Lead</a:t>
            </a:r>
          </a:p>
        </p:txBody>
      </p:sp>
      <p:sp>
        <p:nvSpPr>
          <p:cNvPr id="33" name="Rectangle 32"/>
          <p:cNvSpPr/>
          <p:nvPr/>
        </p:nvSpPr>
        <p:spPr>
          <a:xfrm>
            <a:off x="7452360" y="2606040"/>
            <a:ext cx="1600200" cy="3200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525512" y="2633472"/>
            <a:ext cx="1463040" cy="226591"/>
          </a:xfrm>
          <a:prstGeom prst="rect">
            <a:avLst/>
          </a:prstGeom>
          <a:noFill/>
        </p:spPr>
        <p:txBody>
          <a:bodyPr wrap="square" lIns="36000" tIns="36000" rIns="36000" bIns="36000" anchor="t">
            <a:spAutoFit/>
          </a:bodyPr>
          <a:lstStyle/>
          <a:p>
            <a:pPr algn="l"/>
            <a:r>
              <a:rPr sz="1000" b="0" dirty="0">
                <a:solidFill>
                  <a:srgbClr val="272727"/>
                </a:solidFill>
                <a:latin typeface="Arial"/>
              </a:rPr>
              <a:t>Y1–2 Lead</a:t>
            </a:r>
          </a:p>
        </p:txBody>
      </p:sp>
      <p:sp>
        <p:nvSpPr>
          <p:cNvPr id="35" name="Rectangle 34"/>
          <p:cNvSpPr/>
          <p:nvPr/>
        </p:nvSpPr>
        <p:spPr>
          <a:xfrm>
            <a:off x="5760720" y="2990088"/>
            <a:ext cx="1600200" cy="3200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833872" y="3017520"/>
            <a:ext cx="1463040" cy="226591"/>
          </a:xfrm>
          <a:prstGeom prst="rect">
            <a:avLst/>
          </a:prstGeom>
          <a:noFill/>
        </p:spPr>
        <p:txBody>
          <a:bodyPr wrap="square" lIns="36000" tIns="36000" rIns="36000" bIns="36000" anchor="t">
            <a:spAutoFit/>
          </a:bodyPr>
          <a:lstStyle/>
          <a:p>
            <a:pPr algn="l"/>
            <a:r>
              <a:rPr sz="1000" b="0" dirty="0" err="1">
                <a:solidFill>
                  <a:srgbClr val="272727"/>
                </a:solidFill>
                <a:latin typeface="Arial"/>
              </a:rPr>
              <a:t>Panellist</a:t>
            </a:r>
            <a:r>
              <a:rPr sz="1000" b="0" dirty="0">
                <a:solidFill>
                  <a:srgbClr val="272727"/>
                </a:solidFill>
                <a:latin typeface="Arial"/>
              </a:rPr>
              <a:t> (CXO)</a:t>
            </a:r>
          </a:p>
        </p:txBody>
      </p:sp>
      <p:sp>
        <p:nvSpPr>
          <p:cNvPr id="37" name="Rectangle 36"/>
          <p:cNvSpPr/>
          <p:nvPr/>
        </p:nvSpPr>
        <p:spPr>
          <a:xfrm>
            <a:off x="7452360" y="2990088"/>
            <a:ext cx="1600200" cy="3200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525512" y="3017520"/>
            <a:ext cx="1463040" cy="226591"/>
          </a:xfrm>
          <a:prstGeom prst="rect">
            <a:avLst/>
          </a:prstGeom>
          <a:noFill/>
        </p:spPr>
        <p:txBody>
          <a:bodyPr wrap="square" lIns="36000" tIns="36000" rIns="36000" bIns="36000" anchor="t">
            <a:spAutoFit/>
          </a:bodyPr>
          <a:lstStyle/>
          <a:p>
            <a:pPr algn="l"/>
            <a:r>
              <a:rPr sz="1000" b="0" dirty="0">
                <a:solidFill>
                  <a:srgbClr val="272727"/>
                </a:solidFill>
                <a:latin typeface="Arial"/>
              </a:rPr>
              <a:t>Candidate</a:t>
            </a:r>
          </a:p>
        </p:txBody>
      </p:sp>
      <p:sp>
        <p:nvSpPr>
          <p:cNvPr id="39" name="Rectangle 38"/>
          <p:cNvSpPr/>
          <p:nvPr/>
        </p:nvSpPr>
        <p:spPr>
          <a:xfrm>
            <a:off x="5760720" y="3374136"/>
            <a:ext cx="1600200" cy="3200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833872" y="3401568"/>
            <a:ext cx="1463040" cy="226591"/>
          </a:xfrm>
          <a:prstGeom prst="rect">
            <a:avLst/>
          </a:prstGeom>
          <a:noFill/>
        </p:spPr>
        <p:txBody>
          <a:bodyPr wrap="square" lIns="36000" tIns="36000" rIns="36000" bIns="36000" anchor="t">
            <a:spAutoFit/>
          </a:bodyPr>
          <a:lstStyle/>
          <a:p>
            <a:pPr algn="l"/>
            <a:r>
              <a:rPr sz="1000" b="0" dirty="0">
                <a:solidFill>
                  <a:srgbClr val="272727"/>
                </a:solidFill>
                <a:latin typeface="Arial"/>
              </a:rPr>
              <a:t>Company SPOC</a:t>
            </a:r>
          </a:p>
        </p:txBody>
      </p:sp>
      <p:sp>
        <p:nvSpPr>
          <p:cNvPr id="41" name="Rectangle 40"/>
          <p:cNvSpPr/>
          <p:nvPr/>
        </p:nvSpPr>
        <p:spPr>
          <a:xfrm>
            <a:off x="7452360" y="3374136"/>
            <a:ext cx="1600200" cy="3200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525512" y="3401568"/>
            <a:ext cx="1463040" cy="226591"/>
          </a:xfrm>
          <a:prstGeom prst="rect">
            <a:avLst/>
          </a:prstGeom>
          <a:noFill/>
        </p:spPr>
        <p:txBody>
          <a:bodyPr wrap="square" lIns="36000" tIns="36000" rIns="36000" bIns="36000" anchor="t">
            <a:spAutoFit/>
          </a:bodyPr>
          <a:lstStyle/>
          <a:p>
            <a:pPr algn="l"/>
            <a:r>
              <a:rPr sz="1000" b="0" dirty="0">
                <a:solidFill>
                  <a:srgbClr val="272727"/>
                </a:solidFill>
                <a:latin typeface="Arial"/>
              </a:rPr>
              <a:t>Finance</a:t>
            </a:r>
          </a:p>
        </p:txBody>
      </p:sp>
      <p:sp>
        <p:nvSpPr>
          <p:cNvPr id="43" name="Rectangle 42"/>
          <p:cNvSpPr/>
          <p:nvPr/>
        </p:nvSpPr>
        <p:spPr>
          <a:xfrm>
            <a:off x="457200" y="3794760"/>
            <a:ext cx="8229600" cy="41148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40080" y="3878580"/>
            <a:ext cx="7772400" cy="211203"/>
          </a:xfrm>
          <a:prstGeom prst="rect">
            <a:avLst/>
          </a:prstGeom>
          <a:noFill/>
        </p:spPr>
        <p:txBody>
          <a:bodyPr wrap="square" lIns="36000" tIns="36000" rIns="36000" bIns="36000" anchor="t">
            <a:spAutoFit/>
          </a:bodyPr>
          <a:lstStyle/>
          <a:p>
            <a:pPr algn="l"/>
            <a:r>
              <a:rPr sz="900" b="1" dirty="0">
                <a:solidFill>
                  <a:srgbClr val="E8901E"/>
                </a:solidFill>
                <a:latin typeface="Arial"/>
              </a:rPr>
              <a:t>S</a:t>
            </a:r>
            <a:r>
              <a:rPr lang="en-US" sz="900" b="1" dirty="0">
                <a:solidFill>
                  <a:srgbClr val="E8901E"/>
                </a:solidFill>
                <a:latin typeface="Arial"/>
              </a:rPr>
              <a:t>ECURED</a:t>
            </a:r>
            <a:r>
              <a:rPr sz="900" b="1" dirty="0">
                <a:solidFill>
                  <a:srgbClr val="E8901E"/>
                </a:solidFill>
                <a:latin typeface="Arial"/>
              </a:rPr>
              <a:t> </a:t>
            </a:r>
            <a:r>
              <a:rPr lang="en-US" sz="900" b="1" dirty="0">
                <a:solidFill>
                  <a:srgbClr val="E8901E"/>
                </a:solidFill>
                <a:latin typeface="Arial"/>
              </a:rPr>
              <a:t>SCREEING </a:t>
            </a:r>
            <a:r>
              <a:rPr sz="900" b="1" dirty="0">
                <a:solidFill>
                  <a:srgbClr val="E8901E"/>
                </a:solidFill>
                <a:latin typeface="Arial"/>
              </a:rPr>
              <a:t>RUBRIC — the rubric i</a:t>
            </a:r>
            <a:r>
              <a:rPr lang="en-US" sz="900" b="1" dirty="0">
                <a:solidFill>
                  <a:srgbClr val="E8901E"/>
                </a:solidFill>
                <a:latin typeface="Arial"/>
              </a:rPr>
              <a:t>s never accessed by</a:t>
            </a:r>
            <a:r>
              <a:rPr sz="900" b="1" dirty="0">
                <a:solidFill>
                  <a:srgbClr val="E8901E"/>
                </a:solidFill>
                <a:latin typeface="Arial"/>
              </a:rPr>
              <a:t> </a:t>
            </a:r>
            <a:r>
              <a:rPr lang="en-US" sz="900" b="1" dirty="0">
                <a:solidFill>
                  <a:srgbClr val="E8901E"/>
                </a:solidFill>
                <a:latin typeface="Arial"/>
              </a:rPr>
              <a:t>chat based </a:t>
            </a:r>
            <a:r>
              <a:rPr sz="900" b="1" dirty="0">
                <a:solidFill>
                  <a:srgbClr val="E8901E"/>
                </a:solidFill>
                <a:latin typeface="Arial"/>
              </a:rPr>
              <a:t>LLM. Scored outside by deterministic </a:t>
            </a:r>
            <a:r>
              <a:rPr lang="en-US" sz="900" b="1" dirty="0">
                <a:solidFill>
                  <a:srgbClr val="E8901E"/>
                </a:solidFill>
                <a:latin typeface="Arial"/>
              </a:rPr>
              <a:t>AI worker</a:t>
            </a:r>
            <a:r>
              <a:rPr sz="900" b="1" dirty="0">
                <a:solidFill>
                  <a:srgbClr val="E8901E"/>
                </a:solidFill>
                <a:latin typeface="Arial"/>
              </a:rPr>
              <a:t>.</a:t>
            </a:r>
          </a:p>
        </p:txBody>
      </p:sp>
      <p:sp>
        <p:nvSpPr>
          <p:cNvPr id="45" name="TextBox 44"/>
          <p:cNvSpPr txBox="1"/>
          <p:nvPr/>
        </p:nvSpPr>
        <p:spPr>
          <a:xfrm>
            <a:off x="5760720" y="4297680"/>
            <a:ext cx="2926080" cy="241980"/>
          </a:xfrm>
          <a:prstGeom prst="rect">
            <a:avLst/>
          </a:prstGeom>
          <a:noFill/>
        </p:spPr>
        <p:txBody>
          <a:bodyPr wrap="square" lIns="36000" tIns="36000" rIns="36000" bIns="36000" anchor="t">
            <a:spAutoFit/>
          </a:bodyPr>
          <a:lstStyle/>
          <a:p>
            <a:pPr algn="ctr"/>
            <a:r>
              <a:rPr sz="1100" b="1" dirty="0">
                <a:solidFill>
                  <a:srgbClr val="001B5B"/>
                </a:solidFill>
                <a:latin typeface="Arial"/>
              </a:rPr>
              <a:t>17 agents  ·  AI drafts, humans decide</a:t>
            </a:r>
          </a:p>
        </p:txBody>
      </p:sp>
      <p:sp>
        <p:nvSpPr>
          <p:cNvPr id="46" name="TextBox 45"/>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7 / </a:t>
            </a:r>
            <a:r>
              <a:rPr lang="en-US" sz="800" dirty="0">
                <a:solidFill>
                  <a:srgbClr val="999999"/>
                </a:solidFill>
                <a:latin typeface="Arial"/>
              </a:rPr>
              <a:t>11</a:t>
            </a:r>
            <a:endParaRPr sz="800" b="0" dirty="0">
              <a:solidFill>
                <a:srgbClr val="999999"/>
              </a:solidFill>
              <a:latin typeface="Arial"/>
            </a:endParaRPr>
          </a:p>
        </p:txBody>
      </p:sp>
      <p:sp>
        <p:nvSpPr>
          <p:cNvPr id="47" name="Isosceles Triangle 46">
            <a:extLst>
              <a:ext uri="{FF2B5EF4-FFF2-40B4-BE49-F238E27FC236}">
                <a16:creationId xmlns:a16="http://schemas.microsoft.com/office/drawing/2014/main" id="{230B8AC0-B4FF-EDC7-3241-1B3541202195}"/>
              </a:ext>
            </a:extLst>
          </p:cNvPr>
          <p:cNvSpPr/>
          <p:nvPr/>
        </p:nvSpPr>
        <p:spPr>
          <a:xfrm rot="5400000">
            <a:off x="1467904" y="1509160"/>
            <a:ext cx="45719" cy="59139"/>
          </a:xfrm>
          <a:prstGeom prst="triangle">
            <a:avLst>
              <a:gd name="adj" fmla="val 5757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8" name="Isosceles Triangle 47">
            <a:extLst>
              <a:ext uri="{FF2B5EF4-FFF2-40B4-BE49-F238E27FC236}">
                <a16:creationId xmlns:a16="http://schemas.microsoft.com/office/drawing/2014/main" id="{BF1E5FD0-6367-950D-C762-D2B3F7CDF2A4}"/>
              </a:ext>
            </a:extLst>
          </p:cNvPr>
          <p:cNvSpPr/>
          <p:nvPr/>
        </p:nvSpPr>
        <p:spPr>
          <a:xfrm rot="5400000">
            <a:off x="2525887" y="1509159"/>
            <a:ext cx="45719" cy="59139"/>
          </a:xfrm>
          <a:prstGeom prst="triangle">
            <a:avLst>
              <a:gd name="adj" fmla="val 5757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9" name="Isosceles Triangle 48">
            <a:extLst>
              <a:ext uri="{FF2B5EF4-FFF2-40B4-BE49-F238E27FC236}">
                <a16:creationId xmlns:a16="http://schemas.microsoft.com/office/drawing/2014/main" id="{6BF7B939-E864-6D0C-AEB0-C6C81957EF4C}"/>
              </a:ext>
            </a:extLst>
          </p:cNvPr>
          <p:cNvSpPr/>
          <p:nvPr/>
        </p:nvSpPr>
        <p:spPr>
          <a:xfrm rot="5400000">
            <a:off x="3582311" y="1509159"/>
            <a:ext cx="45719" cy="59139"/>
          </a:xfrm>
          <a:prstGeom prst="triangle">
            <a:avLst>
              <a:gd name="adj" fmla="val 5757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0" name="Isosceles Triangle 49">
            <a:extLst>
              <a:ext uri="{FF2B5EF4-FFF2-40B4-BE49-F238E27FC236}">
                <a16:creationId xmlns:a16="http://schemas.microsoft.com/office/drawing/2014/main" id="{44C02F5D-F3FE-7668-AC6F-1A5FDFA56156}"/>
              </a:ext>
            </a:extLst>
          </p:cNvPr>
          <p:cNvSpPr/>
          <p:nvPr/>
        </p:nvSpPr>
        <p:spPr>
          <a:xfrm rot="5400000">
            <a:off x="4631139" y="1509158"/>
            <a:ext cx="45719" cy="59139"/>
          </a:xfrm>
          <a:prstGeom prst="triangle">
            <a:avLst>
              <a:gd name="adj" fmla="val 5757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1" name="Isosceles Triangle 50">
            <a:extLst>
              <a:ext uri="{FF2B5EF4-FFF2-40B4-BE49-F238E27FC236}">
                <a16:creationId xmlns:a16="http://schemas.microsoft.com/office/drawing/2014/main" id="{BED55F69-DEBC-A6E1-D9B1-5A780DDBE698}"/>
              </a:ext>
            </a:extLst>
          </p:cNvPr>
          <p:cNvSpPr/>
          <p:nvPr/>
        </p:nvSpPr>
        <p:spPr>
          <a:xfrm rot="5400000">
            <a:off x="5685431" y="1509158"/>
            <a:ext cx="45719" cy="59139"/>
          </a:xfrm>
          <a:prstGeom prst="triangle">
            <a:avLst>
              <a:gd name="adj" fmla="val 5757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2" name="Isosceles Triangle 51">
            <a:extLst>
              <a:ext uri="{FF2B5EF4-FFF2-40B4-BE49-F238E27FC236}">
                <a16:creationId xmlns:a16="http://schemas.microsoft.com/office/drawing/2014/main" id="{619C9573-0BF1-BDE4-D7C2-9E042C3F4855}"/>
              </a:ext>
            </a:extLst>
          </p:cNvPr>
          <p:cNvSpPr/>
          <p:nvPr/>
        </p:nvSpPr>
        <p:spPr>
          <a:xfrm rot="5400000">
            <a:off x="6727550" y="1505519"/>
            <a:ext cx="45719" cy="59139"/>
          </a:xfrm>
          <a:prstGeom prst="triangle">
            <a:avLst>
              <a:gd name="adj" fmla="val 5757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3" name="Isosceles Triangle 52">
            <a:extLst>
              <a:ext uri="{FF2B5EF4-FFF2-40B4-BE49-F238E27FC236}">
                <a16:creationId xmlns:a16="http://schemas.microsoft.com/office/drawing/2014/main" id="{02231F13-ECA0-D700-B251-7DAD7AF41F28}"/>
              </a:ext>
            </a:extLst>
          </p:cNvPr>
          <p:cNvSpPr/>
          <p:nvPr/>
        </p:nvSpPr>
        <p:spPr>
          <a:xfrm rot="5400000">
            <a:off x="7779110" y="1505519"/>
            <a:ext cx="45719" cy="59139"/>
          </a:xfrm>
          <a:prstGeom prst="triangle">
            <a:avLst>
              <a:gd name="adj" fmla="val 5757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8229600" cy="380480"/>
          </a:xfrm>
          <a:prstGeom prst="rect">
            <a:avLst/>
          </a:prstGeom>
          <a:noFill/>
        </p:spPr>
        <p:txBody>
          <a:bodyPr wrap="square" lIns="36000" tIns="36000" rIns="36000" bIns="36000" anchor="t">
            <a:spAutoFit/>
          </a:bodyPr>
          <a:lstStyle/>
          <a:p>
            <a:pPr algn="l"/>
            <a:r>
              <a:rPr sz="2000" b="1" dirty="0">
                <a:solidFill>
                  <a:srgbClr val="001B5B"/>
                </a:solidFill>
                <a:latin typeface="Arial"/>
              </a:rPr>
              <a:t>From the prototypes </a:t>
            </a:r>
            <a:r>
              <a:rPr lang="en-US" sz="2000" b="1" dirty="0">
                <a:solidFill>
                  <a:srgbClr val="001B5B"/>
                </a:solidFill>
                <a:latin typeface="Arial"/>
              </a:rPr>
              <a:t>-</a:t>
            </a:r>
            <a:r>
              <a:rPr sz="2000" b="1" dirty="0">
                <a:solidFill>
                  <a:srgbClr val="001B5B"/>
                </a:solidFill>
                <a:latin typeface="Arial"/>
              </a:rPr>
              <a:t> TMTC Journey Studio and AI Hiring Platform</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a:rPr>
              <a:t>AI-NATIVE </a:t>
            </a:r>
            <a:r>
              <a:rPr lang="en-US" sz="800" b="0" dirty="0">
                <a:solidFill>
                  <a:srgbClr val="999999"/>
                </a:solidFill>
                <a:latin typeface="Arial"/>
              </a:rPr>
              <a:t>GROUP </a:t>
            </a:r>
            <a:r>
              <a:rPr sz="800" b="0" dirty="0">
                <a:solidFill>
                  <a:srgbClr val="999999"/>
                </a:solidFill>
                <a:latin typeface="Arial"/>
              </a:rPr>
              <a:t>HR · PANEL PRESENTATION</a:t>
            </a:r>
          </a:p>
        </p:txBody>
      </p:sp>
      <p:sp>
        <p:nvSpPr>
          <p:cNvPr id="6" name="TextBox 5"/>
          <p:cNvSpPr txBox="1"/>
          <p:nvPr/>
        </p:nvSpPr>
        <p:spPr>
          <a:xfrm>
            <a:off x="457200" y="841248"/>
            <a:ext cx="2743200" cy="228600"/>
          </a:xfrm>
          <a:prstGeom prst="rect">
            <a:avLst/>
          </a:prstGeom>
          <a:noFill/>
        </p:spPr>
        <p:txBody>
          <a:bodyPr wrap="square" lIns="36000" tIns="36000" rIns="36000" bIns="36000" anchor="t">
            <a:spAutoFit/>
          </a:bodyPr>
          <a:lstStyle/>
          <a:p>
            <a:pPr algn="l"/>
            <a:r>
              <a:rPr sz="800" b="1">
                <a:solidFill>
                  <a:srgbClr val="E8901E"/>
                </a:solidFill>
                <a:latin typeface="Arial"/>
              </a:rPr>
              <a:t>KEY FINDINGS &amp; ANALYSIS</a:t>
            </a:r>
          </a:p>
        </p:txBody>
      </p:sp>
      <p:sp>
        <p:nvSpPr>
          <p:cNvPr id="7" name="Rectangle 6"/>
          <p:cNvSpPr/>
          <p:nvPr/>
        </p:nvSpPr>
        <p:spPr>
          <a:xfrm>
            <a:off x="274320" y="1005840"/>
            <a:ext cx="4206240" cy="1874519"/>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1_PD_Brief.png"/>
          <p:cNvPicPr>
            <a:picLocks noChangeAspect="1"/>
          </p:cNvPicPr>
          <p:nvPr/>
        </p:nvPicPr>
        <p:blipFill>
          <a:blip r:embed="rId3"/>
          <a:stretch>
            <a:fillRect/>
          </a:stretch>
        </p:blipFill>
        <p:spPr>
          <a:xfrm>
            <a:off x="320040" y="1051560"/>
            <a:ext cx="4114800" cy="1554479"/>
          </a:xfrm>
          <a:prstGeom prst="rect">
            <a:avLst/>
          </a:prstGeom>
        </p:spPr>
      </p:pic>
      <p:sp>
        <p:nvSpPr>
          <p:cNvPr id="9" name="TextBox 8"/>
          <p:cNvSpPr txBox="1"/>
          <p:nvPr/>
        </p:nvSpPr>
        <p:spPr>
          <a:xfrm>
            <a:off x="365760" y="2624327"/>
            <a:ext cx="4023360" cy="228600"/>
          </a:xfrm>
          <a:prstGeom prst="rect">
            <a:avLst/>
          </a:prstGeom>
          <a:noFill/>
        </p:spPr>
        <p:txBody>
          <a:bodyPr wrap="square" lIns="36000" tIns="36000" rIns="36000" bIns="36000" anchor="t">
            <a:spAutoFit/>
          </a:bodyPr>
          <a:lstStyle/>
          <a:p>
            <a:pPr algn="ctr"/>
            <a:r>
              <a:rPr sz="800" b="1">
                <a:solidFill>
                  <a:srgbClr val="001B5B"/>
                </a:solidFill>
                <a:latin typeface="Arial"/>
              </a:rPr>
              <a:t>TMTC — PD Brief view</a:t>
            </a:r>
          </a:p>
        </p:txBody>
      </p:sp>
      <p:sp>
        <p:nvSpPr>
          <p:cNvPr id="10" name="Rectangle 9"/>
          <p:cNvSpPr/>
          <p:nvPr/>
        </p:nvSpPr>
        <p:spPr>
          <a:xfrm>
            <a:off x="4663440" y="1005840"/>
            <a:ext cx="4206240" cy="1874519"/>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02_PD_Blueprint.png"/>
          <p:cNvPicPr>
            <a:picLocks noChangeAspect="1"/>
          </p:cNvPicPr>
          <p:nvPr/>
        </p:nvPicPr>
        <p:blipFill>
          <a:blip r:embed="rId4"/>
          <a:stretch>
            <a:fillRect/>
          </a:stretch>
        </p:blipFill>
        <p:spPr>
          <a:xfrm>
            <a:off x="4709160" y="1051560"/>
            <a:ext cx="4114800" cy="1554479"/>
          </a:xfrm>
          <a:prstGeom prst="rect">
            <a:avLst/>
          </a:prstGeom>
        </p:spPr>
      </p:pic>
      <p:sp>
        <p:nvSpPr>
          <p:cNvPr id="12" name="TextBox 11"/>
          <p:cNvSpPr txBox="1"/>
          <p:nvPr/>
        </p:nvSpPr>
        <p:spPr>
          <a:xfrm>
            <a:off x="4754880" y="2624327"/>
            <a:ext cx="4023360" cy="228600"/>
          </a:xfrm>
          <a:prstGeom prst="rect">
            <a:avLst/>
          </a:prstGeom>
          <a:noFill/>
        </p:spPr>
        <p:txBody>
          <a:bodyPr wrap="square" lIns="36000" tIns="36000" rIns="36000" bIns="36000" anchor="t">
            <a:spAutoFit/>
          </a:bodyPr>
          <a:lstStyle/>
          <a:p>
            <a:pPr algn="ctr"/>
            <a:r>
              <a:rPr sz="800" b="1">
                <a:solidFill>
                  <a:srgbClr val="001B5B"/>
                </a:solidFill>
                <a:latin typeface="Arial"/>
              </a:rPr>
              <a:t>TMTC — AI-drafted Blueprint</a:t>
            </a:r>
          </a:p>
        </p:txBody>
      </p:sp>
      <p:sp>
        <p:nvSpPr>
          <p:cNvPr id="13" name="Rectangle 12"/>
          <p:cNvSpPr/>
          <p:nvPr/>
        </p:nvSpPr>
        <p:spPr>
          <a:xfrm>
            <a:off x="274320" y="2971800"/>
            <a:ext cx="4206240" cy="1874519"/>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hiring_02_manager_hiring_pack.png"/>
          <p:cNvPicPr>
            <a:picLocks noChangeAspect="1"/>
          </p:cNvPicPr>
          <p:nvPr/>
        </p:nvPicPr>
        <p:blipFill>
          <a:blip r:embed="rId5"/>
          <a:stretch>
            <a:fillRect/>
          </a:stretch>
        </p:blipFill>
        <p:spPr>
          <a:xfrm>
            <a:off x="320040" y="3017520"/>
            <a:ext cx="4114800" cy="1554479"/>
          </a:xfrm>
          <a:prstGeom prst="rect">
            <a:avLst/>
          </a:prstGeom>
        </p:spPr>
      </p:pic>
      <p:sp>
        <p:nvSpPr>
          <p:cNvPr id="15" name="TextBox 14"/>
          <p:cNvSpPr txBox="1"/>
          <p:nvPr/>
        </p:nvSpPr>
        <p:spPr>
          <a:xfrm>
            <a:off x="365760" y="4590287"/>
            <a:ext cx="4023360" cy="228600"/>
          </a:xfrm>
          <a:prstGeom prst="rect">
            <a:avLst/>
          </a:prstGeom>
          <a:noFill/>
        </p:spPr>
        <p:txBody>
          <a:bodyPr wrap="square" lIns="36000" tIns="36000" rIns="36000" bIns="36000" anchor="t">
            <a:spAutoFit/>
          </a:bodyPr>
          <a:lstStyle/>
          <a:p>
            <a:pPr algn="ctr"/>
            <a:r>
              <a:rPr sz="800" b="1">
                <a:solidFill>
                  <a:srgbClr val="001B5B"/>
                </a:solidFill>
                <a:latin typeface="Arial"/>
              </a:rPr>
              <a:t>Hiring — Manager Hiring Pack</a:t>
            </a:r>
          </a:p>
        </p:txBody>
      </p:sp>
      <p:sp>
        <p:nvSpPr>
          <p:cNvPr id="16" name="Rectangle 15"/>
          <p:cNvSpPr/>
          <p:nvPr/>
        </p:nvSpPr>
        <p:spPr>
          <a:xfrm>
            <a:off x="4663440" y="2971800"/>
            <a:ext cx="4206240" cy="1874519"/>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hiring_03_manager_candidate_card.png"/>
          <p:cNvPicPr>
            <a:picLocks noChangeAspect="1"/>
          </p:cNvPicPr>
          <p:nvPr/>
        </p:nvPicPr>
        <p:blipFill>
          <a:blip r:embed="rId6"/>
          <a:stretch>
            <a:fillRect/>
          </a:stretch>
        </p:blipFill>
        <p:spPr>
          <a:xfrm>
            <a:off x="4709160" y="3017520"/>
            <a:ext cx="4114800" cy="1554479"/>
          </a:xfrm>
          <a:prstGeom prst="rect">
            <a:avLst/>
          </a:prstGeom>
        </p:spPr>
      </p:pic>
      <p:sp>
        <p:nvSpPr>
          <p:cNvPr id="18" name="TextBox 17"/>
          <p:cNvSpPr txBox="1"/>
          <p:nvPr/>
        </p:nvSpPr>
        <p:spPr>
          <a:xfrm>
            <a:off x="4754880" y="4590287"/>
            <a:ext cx="4023360" cy="228600"/>
          </a:xfrm>
          <a:prstGeom prst="rect">
            <a:avLst/>
          </a:prstGeom>
          <a:noFill/>
        </p:spPr>
        <p:txBody>
          <a:bodyPr wrap="square" lIns="36000" tIns="36000" rIns="36000" bIns="36000" anchor="t">
            <a:spAutoFit/>
          </a:bodyPr>
          <a:lstStyle/>
          <a:p>
            <a:pPr algn="ctr"/>
            <a:r>
              <a:rPr sz="800" b="1">
                <a:solidFill>
                  <a:srgbClr val="001B5B"/>
                </a:solidFill>
                <a:latin typeface="Arial"/>
              </a:rPr>
              <a:t>Hiring — Candidate Card (84%)</a:t>
            </a:r>
          </a:p>
        </p:txBody>
      </p:sp>
      <p:sp>
        <p:nvSpPr>
          <p:cNvPr id="19" name="TextBox 18"/>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8 / 1</a:t>
            </a:r>
            <a:r>
              <a:rPr lang="en-US" sz="800" dirty="0">
                <a:solidFill>
                  <a:srgbClr val="999999"/>
                </a:solidFill>
                <a:latin typeface="Arial"/>
              </a:rPr>
              <a:t>1</a:t>
            </a:r>
            <a:endParaRPr sz="800" b="0" dirty="0">
              <a:solidFill>
                <a:srgbClr val="999999"/>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1_PD_Brief.png">
            <a:extLst>
              <a:ext uri="{FF2B5EF4-FFF2-40B4-BE49-F238E27FC236}">
                <a16:creationId xmlns:a16="http://schemas.microsoft.com/office/drawing/2014/main" id="{E37895E8-E2D4-9BBE-E6E6-C55E793CE0DD}"/>
              </a:ext>
            </a:extLst>
          </p:cNvPr>
          <p:cNvPicPr>
            <a:picLocks noChangeAspect="1"/>
          </p:cNvPicPr>
          <p:nvPr/>
        </p:nvPicPr>
        <p:blipFill>
          <a:blip r:embed="rId3"/>
          <a:stretch>
            <a:fillRect/>
          </a:stretch>
        </p:blipFill>
        <p:spPr>
          <a:xfrm>
            <a:off x="0" y="0"/>
            <a:ext cx="9347504" cy="5143500"/>
          </a:xfrm>
          <a:prstGeom prst="rect">
            <a:avLst/>
          </a:prstGeom>
        </p:spPr>
      </p:pic>
    </p:spTree>
    <p:extLst>
      <p:ext uri="{BB962C8B-B14F-4D97-AF65-F5344CB8AC3E}">
        <p14:creationId xmlns:p14="http://schemas.microsoft.com/office/powerpoint/2010/main" val="800168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_PD_Blueprint.png">
            <a:extLst>
              <a:ext uri="{FF2B5EF4-FFF2-40B4-BE49-F238E27FC236}">
                <a16:creationId xmlns:a16="http://schemas.microsoft.com/office/drawing/2014/main" id="{3F521E09-BEC2-44CE-9BAC-12D21FEFEADE}"/>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2931596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iring_02_manager_hiring_pack.png">
            <a:extLst>
              <a:ext uri="{FF2B5EF4-FFF2-40B4-BE49-F238E27FC236}">
                <a16:creationId xmlns:a16="http://schemas.microsoft.com/office/drawing/2014/main" id="{27414075-B08E-CB94-4417-CC7A42E68018}"/>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3352804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iring_03_manager_candidate_card.png">
            <a:extLst>
              <a:ext uri="{FF2B5EF4-FFF2-40B4-BE49-F238E27FC236}">
                <a16:creationId xmlns:a16="http://schemas.microsoft.com/office/drawing/2014/main" id="{88C5CF7B-25B2-A4F2-870F-903B639047F2}"/>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15170908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06949"/>
            <a:ext cx="8229600" cy="688256"/>
          </a:xfrm>
          <a:prstGeom prst="rect">
            <a:avLst/>
          </a:prstGeom>
          <a:noFill/>
        </p:spPr>
        <p:txBody>
          <a:bodyPr wrap="square" lIns="36000" tIns="36000" rIns="36000" bIns="36000" anchor="t">
            <a:spAutoFit/>
          </a:bodyPr>
          <a:lstStyle/>
          <a:p>
            <a:pPr algn="l"/>
            <a:r>
              <a:rPr sz="2000" b="1" dirty="0">
                <a:solidFill>
                  <a:srgbClr val="001B5B"/>
                </a:solidFill>
                <a:latin typeface="Arial"/>
              </a:rPr>
              <a:t>Three implementations, one principle </a:t>
            </a:r>
            <a:r>
              <a:rPr lang="en-US" sz="2000" b="1" dirty="0">
                <a:solidFill>
                  <a:srgbClr val="001B5B"/>
                </a:solidFill>
                <a:latin typeface="Arial"/>
              </a:rPr>
              <a:t>–</a:t>
            </a:r>
            <a:r>
              <a:rPr sz="2000" b="1" dirty="0">
                <a:solidFill>
                  <a:srgbClr val="001B5B"/>
                </a:solidFill>
                <a:latin typeface="Arial"/>
              </a:rPr>
              <a:t> </a:t>
            </a:r>
            <a:r>
              <a:rPr lang="en-US" sz="2000" b="1" dirty="0">
                <a:solidFill>
                  <a:srgbClr val="001B5B"/>
                </a:solidFill>
                <a:latin typeface="Arial"/>
              </a:rPr>
              <a:t>AI Drafts, Humans Decide</a:t>
            </a:r>
            <a:br>
              <a:rPr lang="en-US" sz="2000" b="1" dirty="0">
                <a:solidFill>
                  <a:srgbClr val="001B5B"/>
                </a:solidFill>
                <a:latin typeface="Arial"/>
              </a:rPr>
            </a:br>
            <a:r>
              <a:rPr sz="2000" b="1" dirty="0">
                <a:solidFill>
                  <a:srgbClr val="001B5B"/>
                </a:solidFill>
                <a:latin typeface="Arial"/>
              </a:rPr>
              <a:t>the pattern generalizes</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a:rPr>
              <a:t>AI-NATIVE </a:t>
            </a:r>
            <a:r>
              <a:rPr lang="en-US" sz="800" b="0" dirty="0">
                <a:solidFill>
                  <a:srgbClr val="999999"/>
                </a:solidFill>
                <a:latin typeface="Arial"/>
              </a:rPr>
              <a:t>GROUP </a:t>
            </a:r>
            <a:r>
              <a:rPr sz="800" b="0" dirty="0">
                <a:solidFill>
                  <a:srgbClr val="999999"/>
                </a:solidFill>
                <a:latin typeface="Arial"/>
              </a:rPr>
              <a:t>HR · PANEL PRESENTATION</a:t>
            </a:r>
          </a:p>
        </p:txBody>
      </p:sp>
      <p:sp>
        <p:nvSpPr>
          <p:cNvPr id="6" name="TextBox 5"/>
          <p:cNvSpPr txBox="1"/>
          <p:nvPr/>
        </p:nvSpPr>
        <p:spPr>
          <a:xfrm>
            <a:off x="457200" y="807380"/>
            <a:ext cx="2743200" cy="257369"/>
          </a:xfrm>
          <a:prstGeom prst="rect">
            <a:avLst/>
          </a:prstGeom>
          <a:noFill/>
        </p:spPr>
        <p:txBody>
          <a:bodyPr wrap="square" lIns="36000" tIns="36000" rIns="36000" bIns="36000" anchor="t">
            <a:spAutoFit/>
          </a:bodyPr>
          <a:lstStyle/>
          <a:p>
            <a:pPr algn="l"/>
            <a:r>
              <a:rPr sz="1200" b="1" dirty="0">
                <a:solidFill>
                  <a:srgbClr val="E8901E"/>
                </a:solidFill>
                <a:latin typeface="Arial"/>
              </a:rPr>
              <a:t>KEY FINDINGS &amp; ANALYSIS</a:t>
            </a:r>
          </a:p>
        </p:txBody>
      </p:sp>
      <p:sp>
        <p:nvSpPr>
          <p:cNvPr id="7" name="Rectangle 6"/>
          <p:cNvSpPr/>
          <p:nvPr/>
        </p:nvSpPr>
        <p:spPr>
          <a:xfrm>
            <a:off x="320040" y="1051560"/>
            <a:ext cx="2743200" cy="45720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071879"/>
            <a:ext cx="2468880" cy="288147"/>
          </a:xfrm>
          <a:prstGeom prst="rect">
            <a:avLst/>
          </a:prstGeom>
          <a:noFill/>
        </p:spPr>
        <p:txBody>
          <a:bodyPr wrap="square" lIns="36000" tIns="36000" rIns="36000" bIns="36000" anchor="t">
            <a:spAutoFit/>
          </a:bodyPr>
          <a:lstStyle/>
          <a:p>
            <a:pPr algn="ctr"/>
            <a:r>
              <a:rPr sz="1400" b="1" dirty="0">
                <a:solidFill>
                  <a:srgbClr val="FFFFFF"/>
                </a:solidFill>
                <a:latin typeface="Arial"/>
              </a:rPr>
              <a:t>TMTC</a:t>
            </a:r>
          </a:p>
        </p:txBody>
      </p:sp>
      <p:sp>
        <p:nvSpPr>
          <p:cNvPr id="9" name="TextBox 8"/>
          <p:cNvSpPr txBox="1"/>
          <p:nvPr/>
        </p:nvSpPr>
        <p:spPr>
          <a:xfrm>
            <a:off x="457200" y="1280160"/>
            <a:ext cx="2468880" cy="226591"/>
          </a:xfrm>
          <a:prstGeom prst="rect">
            <a:avLst/>
          </a:prstGeom>
          <a:noFill/>
        </p:spPr>
        <p:txBody>
          <a:bodyPr wrap="square" lIns="36000" tIns="36000" rIns="36000" bIns="36000" anchor="t">
            <a:spAutoFit/>
          </a:bodyPr>
          <a:lstStyle/>
          <a:p>
            <a:pPr algn="ctr"/>
            <a:r>
              <a:rPr sz="1000" b="0" dirty="0">
                <a:solidFill>
                  <a:srgbClr val="BBBBBB"/>
                </a:solidFill>
                <a:latin typeface="Arial"/>
              </a:rPr>
              <a:t>Learning programs</a:t>
            </a:r>
          </a:p>
        </p:txBody>
      </p:sp>
      <p:sp>
        <p:nvSpPr>
          <p:cNvPr id="10" name="Rectangle 9"/>
          <p:cNvSpPr/>
          <p:nvPr/>
        </p:nvSpPr>
        <p:spPr>
          <a:xfrm>
            <a:off x="320040" y="1554480"/>
            <a:ext cx="2743200" cy="18288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1691640"/>
            <a:ext cx="2468880" cy="1246495"/>
          </a:xfrm>
          <a:prstGeom prst="rect">
            <a:avLst/>
          </a:prstGeom>
          <a:noFill/>
        </p:spPr>
        <p:txBody>
          <a:bodyPr wrap="square">
            <a:spAutoFit/>
          </a:bodyPr>
          <a:lstStyle/>
          <a:p>
            <a:pPr>
              <a:spcAft>
                <a:spcPts val="600"/>
              </a:spcAft>
            </a:pPr>
            <a:r>
              <a:rPr sz="1100" b="1" dirty="0">
                <a:solidFill>
                  <a:srgbClr val="E8901E"/>
                </a:solidFill>
                <a:latin typeface="Arial"/>
              </a:rPr>
              <a:t>▸  </a:t>
            </a:r>
            <a:r>
              <a:rPr sz="1100" dirty="0">
                <a:solidFill>
                  <a:srgbClr val="272727"/>
                </a:solidFill>
                <a:latin typeface="Arial"/>
              </a:rPr>
              <a:t>19 AI agents</a:t>
            </a:r>
          </a:p>
          <a:p>
            <a:pPr>
              <a:spcAft>
                <a:spcPts val="600"/>
              </a:spcAft>
            </a:pPr>
            <a:r>
              <a:rPr sz="1100" b="1" dirty="0">
                <a:solidFill>
                  <a:srgbClr val="E8901E"/>
                </a:solidFill>
                <a:latin typeface="Arial"/>
              </a:rPr>
              <a:t>▸  </a:t>
            </a:r>
            <a:r>
              <a:rPr sz="1100" dirty="0">
                <a:solidFill>
                  <a:srgbClr val="272727"/>
                </a:solidFill>
                <a:latin typeface="Arial"/>
              </a:rPr>
              <a:t>5 role workbenches</a:t>
            </a:r>
          </a:p>
          <a:p>
            <a:pPr>
              <a:spcAft>
                <a:spcPts val="600"/>
              </a:spcAft>
            </a:pPr>
            <a:r>
              <a:rPr sz="1100" b="1" dirty="0">
                <a:solidFill>
                  <a:srgbClr val="E8901E"/>
                </a:solidFill>
                <a:latin typeface="Arial"/>
              </a:rPr>
              <a:t>▸  </a:t>
            </a:r>
            <a:r>
              <a:rPr sz="1100" dirty="0">
                <a:solidFill>
                  <a:srgbClr val="272727"/>
                </a:solidFill>
                <a:latin typeface="Arial"/>
              </a:rPr>
              <a:t>Six-layer operating model</a:t>
            </a:r>
          </a:p>
          <a:p>
            <a:pPr>
              <a:spcAft>
                <a:spcPts val="600"/>
              </a:spcAft>
            </a:pPr>
            <a:r>
              <a:rPr sz="1100" b="1" dirty="0">
                <a:solidFill>
                  <a:srgbClr val="E8901E"/>
                </a:solidFill>
                <a:latin typeface="Arial"/>
              </a:rPr>
              <a:t>▸  </a:t>
            </a:r>
            <a:r>
              <a:rPr sz="1100" dirty="0">
                <a:solidFill>
                  <a:srgbClr val="272727"/>
                </a:solidFill>
                <a:latin typeface="Arial"/>
              </a:rPr>
              <a:t>Human decision gates</a:t>
            </a:r>
          </a:p>
          <a:p>
            <a:pPr>
              <a:spcAft>
                <a:spcPts val="600"/>
              </a:spcAft>
            </a:pPr>
            <a:r>
              <a:rPr sz="1100" b="1" dirty="0">
                <a:solidFill>
                  <a:srgbClr val="E8901E"/>
                </a:solidFill>
                <a:latin typeface="Arial"/>
              </a:rPr>
              <a:t>▸  </a:t>
            </a:r>
            <a:r>
              <a:rPr sz="1100" dirty="0">
                <a:solidFill>
                  <a:srgbClr val="272727"/>
                </a:solidFill>
                <a:latin typeface="Arial"/>
              </a:rPr>
              <a:t>Program memory as </a:t>
            </a:r>
            <a:r>
              <a:rPr lang="en-US" sz="1100" dirty="0">
                <a:solidFill>
                  <a:srgbClr val="272727"/>
                </a:solidFill>
                <a:latin typeface="Arial"/>
              </a:rPr>
              <a:t>data </a:t>
            </a:r>
            <a:r>
              <a:rPr sz="1100" dirty="0">
                <a:solidFill>
                  <a:srgbClr val="272727"/>
                </a:solidFill>
                <a:latin typeface="Arial"/>
              </a:rPr>
              <a:t>fabric</a:t>
            </a:r>
          </a:p>
        </p:txBody>
      </p:sp>
      <p:sp>
        <p:nvSpPr>
          <p:cNvPr id="12" name="Rectangle 11"/>
          <p:cNvSpPr/>
          <p:nvPr/>
        </p:nvSpPr>
        <p:spPr>
          <a:xfrm>
            <a:off x="3154680" y="1051560"/>
            <a:ext cx="2743200" cy="45720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91840" y="1063412"/>
            <a:ext cx="2468880" cy="318924"/>
          </a:xfrm>
          <a:prstGeom prst="rect">
            <a:avLst/>
          </a:prstGeom>
          <a:noFill/>
        </p:spPr>
        <p:txBody>
          <a:bodyPr wrap="square" lIns="36000" tIns="36000" rIns="36000" bIns="36000" anchor="t">
            <a:spAutoFit/>
          </a:bodyPr>
          <a:lstStyle/>
          <a:p>
            <a:pPr algn="ctr"/>
            <a:r>
              <a:rPr sz="1600" b="1" dirty="0">
                <a:solidFill>
                  <a:srgbClr val="FFFFFF"/>
                </a:solidFill>
                <a:latin typeface="Arial"/>
              </a:rPr>
              <a:t>TAS</a:t>
            </a:r>
          </a:p>
        </p:txBody>
      </p:sp>
      <p:sp>
        <p:nvSpPr>
          <p:cNvPr id="14" name="TextBox 13"/>
          <p:cNvSpPr txBox="1"/>
          <p:nvPr/>
        </p:nvSpPr>
        <p:spPr>
          <a:xfrm>
            <a:off x="3291840" y="1280160"/>
            <a:ext cx="2468880" cy="234286"/>
          </a:xfrm>
          <a:prstGeom prst="rect">
            <a:avLst/>
          </a:prstGeom>
          <a:noFill/>
        </p:spPr>
        <p:txBody>
          <a:bodyPr wrap="square" lIns="36000" tIns="36000" rIns="36000" bIns="36000" anchor="t">
            <a:spAutoFit/>
          </a:bodyPr>
          <a:lstStyle/>
          <a:p>
            <a:pPr algn="ctr"/>
            <a:r>
              <a:rPr sz="1050" b="0">
                <a:solidFill>
                  <a:srgbClr val="BBBBBB"/>
                </a:solidFill>
                <a:latin typeface="Arial"/>
              </a:rPr>
              <a:t>Talent acquisition</a:t>
            </a:r>
          </a:p>
        </p:txBody>
      </p:sp>
      <p:sp>
        <p:nvSpPr>
          <p:cNvPr id="15" name="Rectangle 14"/>
          <p:cNvSpPr/>
          <p:nvPr/>
        </p:nvSpPr>
        <p:spPr>
          <a:xfrm>
            <a:off x="3154680" y="1554480"/>
            <a:ext cx="2743200" cy="18288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91840" y="1691640"/>
            <a:ext cx="2468880" cy="1246495"/>
          </a:xfrm>
          <a:prstGeom prst="rect">
            <a:avLst/>
          </a:prstGeom>
          <a:noFill/>
        </p:spPr>
        <p:txBody>
          <a:bodyPr wrap="square">
            <a:spAutoFit/>
          </a:bodyPr>
          <a:lstStyle/>
          <a:p>
            <a:pPr>
              <a:spcAft>
                <a:spcPts val="600"/>
              </a:spcAft>
            </a:pPr>
            <a:r>
              <a:rPr sz="1100" b="1" dirty="0">
                <a:solidFill>
                  <a:srgbClr val="E8901E"/>
                </a:solidFill>
                <a:latin typeface="Arial"/>
              </a:rPr>
              <a:t>▸  </a:t>
            </a:r>
            <a:r>
              <a:rPr sz="1100" dirty="0">
                <a:solidFill>
                  <a:srgbClr val="272727"/>
                </a:solidFill>
                <a:latin typeface="Arial"/>
              </a:rPr>
              <a:t>17 AI agents</a:t>
            </a:r>
          </a:p>
          <a:p>
            <a:pPr>
              <a:spcAft>
                <a:spcPts val="600"/>
              </a:spcAft>
            </a:pPr>
            <a:r>
              <a:rPr sz="1100" b="1" dirty="0">
                <a:solidFill>
                  <a:srgbClr val="E8901E"/>
                </a:solidFill>
                <a:latin typeface="Arial"/>
              </a:rPr>
              <a:t>▸  </a:t>
            </a:r>
            <a:r>
              <a:rPr sz="1100" dirty="0">
                <a:solidFill>
                  <a:srgbClr val="272727"/>
                </a:solidFill>
                <a:latin typeface="Arial"/>
              </a:rPr>
              <a:t>6 role workbenches</a:t>
            </a:r>
          </a:p>
          <a:p>
            <a:pPr>
              <a:spcAft>
                <a:spcPts val="600"/>
              </a:spcAft>
            </a:pPr>
            <a:r>
              <a:rPr sz="1100" b="1" dirty="0">
                <a:solidFill>
                  <a:srgbClr val="E8901E"/>
                </a:solidFill>
                <a:latin typeface="Arial"/>
              </a:rPr>
              <a:t>▸  </a:t>
            </a:r>
            <a:r>
              <a:rPr lang="en-US" sz="1100" b="1" dirty="0">
                <a:solidFill>
                  <a:srgbClr val="272727"/>
                </a:solidFill>
                <a:latin typeface="Arial"/>
              </a:rPr>
              <a:t>4</a:t>
            </a:r>
            <a:r>
              <a:rPr sz="1100" dirty="0">
                <a:solidFill>
                  <a:srgbClr val="272727"/>
                </a:solidFill>
                <a:latin typeface="Arial"/>
              </a:rPr>
              <a:t>-layer operating model</a:t>
            </a:r>
          </a:p>
          <a:p>
            <a:pPr>
              <a:spcAft>
                <a:spcPts val="600"/>
              </a:spcAft>
            </a:pPr>
            <a:r>
              <a:rPr sz="1100" b="1" dirty="0">
                <a:solidFill>
                  <a:srgbClr val="E8901E"/>
                </a:solidFill>
                <a:latin typeface="Arial"/>
              </a:rPr>
              <a:t>▸  </a:t>
            </a:r>
            <a:r>
              <a:rPr sz="1100" dirty="0">
                <a:solidFill>
                  <a:srgbClr val="272727"/>
                </a:solidFill>
                <a:latin typeface="Arial"/>
              </a:rPr>
              <a:t>Se</a:t>
            </a:r>
            <a:r>
              <a:rPr lang="en-US" sz="1100" dirty="0">
                <a:solidFill>
                  <a:srgbClr val="272727"/>
                </a:solidFill>
                <a:latin typeface="Arial"/>
              </a:rPr>
              <a:t>cured</a:t>
            </a:r>
            <a:r>
              <a:rPr sz="1100" dirty="0">
                <a:solidFill>
                  <a:srgbClr val="272727"/>
                </a:solidFill>
                <a:latin typeface="Arial"/>
              </a:rPr>
              <a:t> </a:t>
            </a:r>
            <a:r>
              <a:rPr lang="en-US" sz="1100" dirty="0">
                <a:solidFill>
                  <a:srgbClr val="272727"/>
                </a:solidFill>
                <a:latin typeface="Arial"/>
              </a:rPr>
              <a:t>Screening </a:t>
            </a:r>
            <a:r>
              <a:rPr sz="1100" dirty="0">
                <a:solidFill>
                  <a:srgbClr val="272727"/>
                </a:solidFill>
                <a:latin typeface="Arial"/>
              </a:rPr>
              <a:t>Rubric</a:t>
            </a:r>
          </a:p>
          <a:p>
            <a:pPr>
              <a:spcAft>
                <a:spcPts val="600"/>
              </a:spcAft>
            </a:pPr>
            <a:r>
              <a:rPr sz="1100" b="1" dirty="0">
                <a:solidFill>
                  <a:srgbClr val="E8901E"/>
                </a:solidFill>
                <a:latin typeface="Arial"/>
              </a:rPr>
              <a:t>▸  </a:t>
            </a:r>
            <a:r>
              <a:rPr sz="1100" dirty="0">
                <a:solidFill>
                  <a:srgbClr val="272727"/>
                </a:solidFill>
                <a:latin typeface="Arial"/>
              </a:rPr>
              <a:t>Living TAS </a:t>
            </a:r>
            <a:r>
              <a:rPr lang="en-US" sz="1100" dirty="0">
                <a:solidFill>
                  <a:srgbClr val="272727"/>
                </a:solidFill>
                <a:latin typeface="Arial"/>
              </a:rPr>
              <a:t>Workforce </a:t>
            </a:r>
            <a:r>
              <a:rPr sz="1100" dirty="0">
                <a:solidFill>
                  <a:srgbClr val="272727"/>
                </a:solidFill>
                <a:latin typeface="Arial"/>
              </a:rPr>
              <a:t>Graph</a:t>
            </a:r>
          </a:p>
        </p:txBody>
      </p:sp>
      <p:sp>
        <p:nvSpPr>
          <p:cNvPr id="17" name="Rectangle 16"/>
          <p:cNvSpPr/>
          <p:nvPr/>
        </p:nvSpPr>
        <p:spPr>
          <a:xfrm>
            <a:off x="5989320" y="1051560"/>
            <a:ext cx="2743200" cy="45720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26480" y="1071879"/>
            <a:ext cx="2468880" cy="288147"/>
          </a:xfrm>
          <a:prstGeom prst="rect">
            <a:avLst/>
          </a:prstGeom>
          <a:noFill/>
        </p:spPr>
        <p:txBody>
          <a:bodyPr wrap="square" lIns="36000" tIns="36000" rIns="36000" bIns="36000" anchor="t">
            <a:spAutoFit/>
          </a:bodyPr>
          <a:lstStyle/>
          <a:p>
            <a:pPr algn="ctr"/>
            <a:r>
              <a:rPr sz="1400" b="1" dirty="0">
                <a:solidFill>
                  <a:srgbClr val="FFFFFF"/>
                </a:solidFill>
                <a:latin typeface="Arial"/>
              </a:rPr>
              <a:t>HIRING PLATFORM</a:t>
            </a:r>
          </a:p>
        </p:txBody>
      </p:sp>
      <p:sp>
        <p:nvSpPr>
          <p:cNvPr id="19" name="TextBox 18"/>
          <p:cNvSpPr txBox="1"/>
          <p:nvPr/>
        </p:nvSpPr>
        <p:spPr>
          <a:xfrm>
            <a:off x="6126480" y="1280160"/>
            <a:ext cx="2468880" cy="226591"/>
          </a:xfrm>
          <a:prstGeom prst="rect">
            <a:avLst/>
          </a:prstGeom>
          <a:noFill/>
        </p:spPr>
        <p:txBody>
          <a:bodyPr wrap="square" lIns="36000" tIns="36000" rIns="36000" bIns="36000" anchor="t">
            <a:spAutoFit/>
          </a:bodyPr>
          <a:lstStyle/>
          <a:p>
            <a:pPr algn="ctr"/>
            <a:r>
              <a:rPr sz="1000" b="0">
                <a:solidFill>
                  <a:srgbClr val="BBBBBB"/>
                </a:solidFill>
                <a:latin typeface="Arial"/>
              </a:rPr>
              <a:t>Lateral hiring</a:t>
            </a:r>
          </a:p>
        </p:txBody>
      </p:sp>
      <p:sp>
        <p:nvSpPr>
          <p:cNvPr id="20" name="Rectangle 19"/>
          <p:cNvSpPr/>
          <p:nvPr/>
        </p:nvSpPr>
        <p:spPr>
          <a:xfrm>
            <a:off x="5989320" y="1554480"/>
            <a:ext cx="2743200" cy="18288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26480" y="1691640"/>
            <a:ext cx="2468880" cy="1000274"/>
          </a:xfrm>
          <a:prstGeom prst="rect">
            <a:avLst/>
          </a:prstGeom>
          <a:noFill/>
        </p:spPr>
        <p:txBody>
          <a:bodyPr wrap="square">
            <a:spAutoFit/>
          </a:bodyPr>
          <a:lstStyle/>
          <a:p>
            <a:pPr>
              <a:spcAft>
                <a:spcPts val="600"/>
              </a:spcAft>
            </a:pPr>
            <a:r>
              <a:rPr sz="1100" b="1" dirty="0">
                <a:solidFill>
                  <a:srgbClr val="E8901E"/>
                </a:solidFill>
                <a:latin typeface="Arial"/>
              </a:rPr>
              <a:t>▸  </a:t>
            </a:r>
            <a:r>
              <a:rPr sz="1100" dirty="0">
                <a:solidFill>
                  <a:srgbClr val="272727"/>
                </a:solidFill>
                <a:latin typeface="Arial"/>
              </a:rPr>
              <a:t>11 AI workers</a:t>
            </a:r>
          </a:p>
          <a:p>
            <a:pPr>
              <a:spcAft>
                <a:spcPts val="600"/>
              </a:spcAft>
            </a:pPr>
            <a:r>
              <a:rPr sz="1100" b="1" dirty="0">
                <a:solidFill>
                  <a:srgbClr val="E8901E"/>
                </a:solidFill>
                <a:latin typeface="Arial"/>
              </a:rPr>
              <a:t>▸  </a:t>
            </a:r>
            <a:r>
              <a:rPr sz="1100" dirty="0">
                <a:solidFill>
                  <a:srgbClr val="272727"/>
                </a:solidFill>
                <a:latin typeface="Arial"/>
              </a:rPr>
              <a:t>4 personas</a:t>
            </a:r>
          </a:p>
          <a:p>
            <a:pPr>
              <a:spcAft>
                <a:spcPts val="600"/>
              </a:spcAft>
            </a:pPr>
            <a:r>
              <a:rPr sz="1100" b="1" dirty="0">
                <a:solidFill>
                  <a:srgbClr val="E8901E"/>
                </a:solidFill>
                <a:latin typeface="Arial"/>
              </a:rPr>
              <a:t>▸  </a:t>
            </a:r>
            <a:r>
              <a:rPr sz="1100" dirty="0">
                <a:solidFill>
                  <a:srgbClr val="272727"/>
                </a:solidFill>
                <a:latin typeface="Arial"/>
              </a:rPr>
              <a:t>Three-layer platform</a:t>
            </a:r>
          </a:p>
          <a:p>
            <a:pPr>
              <a:spcAft>
                <a:spcPts val="600"/>
              </a:spcAft>
            </a:pPr>
            <a:r>
              <a:rPr sz="1100" b="1" dirty="0">
                <a:solidFill>
                  <a:srgbClr val="E8901E"/>
                </a:solidFill>
                <a:latin typeface="Arial"/>
              </a:rPr>
              <a:t>▸  </a:t>
            </a:r>
            <a:r>
              <a:rPr sz="1100" dirty="0">
                <a:solidFill>
                  <a:srgbClr val="272727"/>
                </a:solidFill>
                <a:latin typeface="Arial"/>
              </a:rPr>
              <a:t>Confidence-gated handoffs</a:t>
            </a:r>
          </a:p>
        </p:txBody>
      </p:sp>
      <p:sp>
        <p:nvSpPr>
          <p:cNvPr id="22" name="Rectangle 21"/>
          <p:cNvSpPr/>
          <p:nvPr/>
        </p:nvSpPr>
        <p:spPr>
          <a:xfrm>
            <a:off x="320040" y="3611880"/>
            <a:ext cx="8412480" cy="50292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3691465"/>
            <a:ext cx="8229600" cy="318924"/>
          </a:xfrm>
          <a:prstGeom prst="rect">
            <a:avLst/>
          </a:prstGeom>
          <a:noFill/>
        </p:spPr>
        <p:txBody>
          <a:bodyPr wrap="square" lIns="36000" tIns="36000" rIns="36000" bIns="36000" anchor="t">
            <a:spAutoFit/>
          </a:bodyPr>
          <a:lstStyle/>
          <a:p>
            <a:pPr algn="ctr"/>
            <a:r>
              <a:rPr sz="1600" b="1" dirty="0">
                <a:solidFill>
                  <a:srgbClr val="FFFFFF"/>
                </a:solidFill>
                <a:latin typeface="Arial"/>
              </a:rPr>
              <a:t>Common principle: AI handles first-draft work · Humans own every decision gate </a:t>
            </a:r>
          </a:p>
        </p:txBody>
      </p:sp>
      <p:sp>
        <p:nvSpPr>
          <p:cNvPr id="24" name="TextBox 23"/>
          <p:cNvSpPr txBox="1"/>
          <p:nvPr/>
        </p:nvSpPr>
        <p:spPr>
          <a:xfrm>
            <a:off x="457200" y="4272279"/>
            <a:ext cx="8229600" cy="257369"/>
          </a:xfrm>
          <a:prstGeom prst="rect">
            <a:avLst/>
          </a:prstGeom>
          <a:noFill/>
        </p:spPr>
        <p:txBody>
          <a:bodyPr wrap="square" lIns="36000" tIns="36000" rIns="36000" bIns="36000" anchor="t">
            <a:spAutoFit/>
          </a:bodyPr>
          <a:lstStyle/>
          <a:p>
            <a:pPr algn="ctr"/>
            <a:r>
              <a:rPr sz="1200" b="1" dirty="0">
                <a:solidFill>
                  <a:srgbClr val="001B5B"/>
                </a:solidFill>
                <a:latin typeface="Arial"/>
              </a:rPr>
              <a:t>47 AI agents/workers  ·  1</a:t>
            </a:r>
            <a:r>
              <a:rPr lang="en-US" sz="1200" b="1" dirty="0">
                <a:solidFill>
                  <a:srgbClr val="001B5B"/>
                </a:solidFill>
                <a:latin typeface="Arial"/>
              </a:rPr>
              <a:t>5</a:t>
            </a:r>
            <a:r>
              <a:rPr sz="1200" b="1" dirty="0">
                <a:solidFill>
                  <a:srgbClr val="001B5B"/>
                </a:solidFill>
                <a:latin typeface="Arial"/>
              </a:rPr>
              <a:t> role workbenches  ·  3 HR domains  ·  1 architectural principle</a:t>
            </a:r>
          </a:p>
        </p:txBody>
      </p:sp>
      <p:sp>
        <p:nvSpPr>
          <p:cNvPr id="25" name="TextBox 24"/>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9 / 1</a:t>
            </a:r>
            <a:r>
              <a:rPr lang="en-US" sz="800" dirty="0">
                <a:solidFill>
                  <a:srgbClr val="999999"/>
                </a:solidFill>
                <a:latin typeface="Arial"/>
              </a:rPr>
              <a:t>1</a:t>
            </a:r>
            <a:endParaRPr sz="800" b="0" dirty="0">
              <a:solidFill>
                <a:srgbClr val="999999"/>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18533"/>
            <a:ext cx="8229600" cy="688256"/>
          </a:xfrm>
          <a:prstGeom prst="rect">
            <a:avLst/>
          </a:prstGeom>
          <a:noFill/>
        </p:spPr>
        <p:txBody>
          <a:bodyPr wrap="square" lIns="36000" tIns="36000" rIns="36000" bIns="36000" anchor="t">
            <a:spAutoFit/>
          </a:bodyPr>
          <a:lstStyle/>
          <a:p>
            <a:pPr algn="l"/>
            <a:r>
              <a:rPr sz="2000" b="1" dirty="0">
                <a:solidFill>
                  <a:srgbClr val="001B5B"/>
                </a:solidFill>
                <a:latin typeface="Arial"/>
              </a:rPr>
              <a:t>Roadmap </a:t>
            </a:r>
            <a:r>
              <a:rPr lang="en-US" sz="2000" b="1" dirty="0">
                <a:solidFill>
                  <a:srgbClr val="001B5B"/>
                </a:solidFill>
                <a:latin typeface="Arial"/>
              </a:rPr>
              <a:t>-</a:t>
            </a:r>
            <a:r>
              <a:rPr sz="2000" b="1" dirty="0">
                <a:solidFill>
                  <a:srgbClr val="001B5B"/>
                </a:solidFill>
                <a:latin typeface="Arial"/>
              </a:rPr>
              <a:t> clean the</a:t>
            </a:r>
            <a:r>
              <a:rPr lang="en-US" sz="2000" b="1" dirty="0">
                <a:solidFill>
                  <a:srgbClr val="001B5B"/>
                </a:solidFill>
                <a:latin typeface="Arial"/>
              </a:rPr>
              <a:t> institutional</a:t>
            </a:r>
            <a:r>
              <a:rPr sz="2000" b="1" dirty="0">
                <a:solidFill>
                  <a:srgbClr val="001B5B"/>
                </a:solidFill>
                <a:latin typeface="Arial"/>
              </a:rPr>
              <a:t> memory, </a:t>
            </a:r>
            <a:br>
              <a:rPr lang="en-US" sz="2000" b="1" dirty="0">
                <a:solidFill>
                  <a:srgbClr val="001B5B"/>
                </a:solidFill>
                <a:latin typeface="Arial"/>
              </a:rPr>
            </a:br>
            <a:r>
              <a:rPr sz="2000" b="1" dirty="0">
                <a:solidFill>
                  <a:srgbClr val="001B5B"/>
                </a:solidFill>
                <a:latin typeface="Arial"/>
              </a:rPr>
              <a:t>automate coordination, then </a:t>
            </a:r>
            <a:r>
              <a:rPr sz="2000" b="1" dirty="0" err="1">
                <a:solidFill>
                  <a:srgbClr val="001B5B"/>
                </a:solidFill>
                <a:latin typeface="Arial"/>
              </a:rPr>
              <a:t>platformise</a:t>
            </a:r>
            <a:endParaRPr sz="2000" b="1" dirty="0">
              <a:solidFill>
                <a:srgbClr val="001B5B"/>
              </a:solidFill>
              <a:latin typeface="Arial"/>
            </a:endParaRP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228600"/>
          </a:xfrm>
          <a:prstGeom prst="rect">
            <a:avLst/>
          </a:prstGeom>
          <a:noFill/>
        </p:spPr>
        <p:txBody>
          <a:bodyPr wrap="square" lIns="36000" tIns="36000" rIns="36000" bIns="36000" anchor="t">
            <a:spAutoFit/>
          </a:bodyPr>
          <a:lstStyle/>
          <a:p>
            <a:pPr algn="l"/>
            <a:r>
              <a:rPr sz="800" b="0">
                <a:solidFill>
                  <a:srgbClr val="999999"/>
                </a:solidFill>
                <a:latin typeface="Arial"/>
              </a:rPr>
              <a:t>AI-NATIVE HR · PANEL PRESENTATION</a:t>
            </a:r>
          </a:p>
        </p:txBody>
      </p:sp>
      <p:sp>
        <p:nvSpPr>
          <p:cNvPr id="6" name="TextBox 5"/>
          <p:cNvSpPr txBox="1"/>
          <p:nvPr/>
        </p:nvSpPr>
        <p:spPr>
          <a:xfrm>
            <a:off x="423332" y="773512"/>
            <a:ext cx="2743200" cy="288147"/>
          </a:xfrm>
          <a:prstGeom prst="rect">
            <a:avLst/>
          </a:prstGeom>
          <a:noFill/>
        </p:spPr>
        <p:txBody>
          <a:bodyPr wrap="square" lIns="36000" tIns="36000" rIns="36000" bIns="36000" anchor="t">
            <a:spAutoFit/>
          </a:bodyPr>
          <a:lstStyle/>
          <a:p>
            <a:pPr algn="l"/>
            <a:r>
              <a:rPr sz="1400" b="1" dirty="0">
                <a:solidFill>
                  <a:srgbClr val="E8901E"/>
                </a:solidFill>
                <a:latin typeface="Arial"/>
              </a:rPr>
              <a:t>RECOMMENDATIONS</a:t>
            </a:r>
          </a:p>
        </p:txBody>
      </p:sp>
      <p:sp>
        <p:nvSpPr>
          <p:cNvPr id="7" name="Rectangle 6"/>
          <p:cNvSpPr/>
          <p:nvPr/>
        </p:nvSpPr>
        <p:spPr>
          <a:xfrm>
            <a:off x="320040" y="1051560"/>
            <a:ext cx="2743200" cy="59436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078992"/>
            <a:ext cx="2560320" cy="442035"/>
          </a:xfrm>
          <a:prstGeom prst="rect">
            <a:avLst/>
          </a:prstGeom>
          <a:noFill/>
        </p:spPr>
        <p:txBody>
          <a:bodyPr wrap="square" lIns="36000" tIns="36000" rIns="36000" bIns="36000" anchor="t">
            <a:spAutoFit/>
          </a:bodyPr>
          <a:lstStyle/>
          <a:p>
            <a:pPr algn="ctr"/>
            <a:r>
              <a:rPr sz="1200" b="1" dirty="0">
                <a:solidFill>
                  <a:srgbClr val="FFFFFF"/>
                </a:solidFill>
                <a:latin typeface="Arial"/>
              </a:rPr>
              <a:t>PHASE 1</a:t>
            </a:r>
          </a:p>
          <a:p>
            <a:pPr algn="ctr"/>
            <a:r>
              <a:rPr sz="1200" b="1" dirty="0">
                <a:solidFill>
                  <a:srgbClr val="FFFFFF"/>
                </a:solidFill>
                <a:latin typeface="Arial"/>
              </a:rPr>
              <a:t>0–90 days</a:t>
            </a:r>
          </a:p>
        </p:txBody>
      </p:sp>
      <p:sp>
        <p:nvSpPr>
          <p:cNvPr id="9" name="TextBox 8"/>
          <p:cNvSpPr txBox="1"/>
          <p:nvPr/>
        </p:nvSpPr>
        <p:spPr>
          <a:xfrm>
            <a:off x="411480" y="1412240"/>
            <a:ext cx="2560320" cy="234286"/>
          </a:xfrm>
          <a:prstGeom prst="rect">
            <a:avLst/>
          </a:prstGeom>
          <a:noFill/>
        </p:spPr>
        <p:txBody>
          <a:bodyPr wrap="square" lIns="36000" tIns="36000" rIns="36000" bIns="36000" anchor="t">
            <a:spAutoFit/>
          </a:bodyPr>
          <a:lstStyle/>
          <a:p>
            <a:pPr algn="ctr"/>
            <a:r>
              <a:rPr sz="1050" b="0" dirty="0">
                <a:solidFill>
                  <a:srgbClr val="E8901E"/>
                </a:solidFill>
                <a:latin typeface="Arial"/>
              </a:rPr>
              <a:t>Foundation</a:t>
            </a:r>
          </a:p>
        </p:txBody>
      </p:sp>
      <p:sp>
        <p:nvSpPr>
          <p:cNvPr id="10" name="Rectangle 9"/>
          <p:cNvSpPr/>
          <p:nvPr/>
        </p:nvSpPr>
        <p:spPr>
          <a:xfrm>
            <a:off x="320040" y="1691640"/>
            <a:ext cx="2743200" cy="233172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1783080"/>
            <a:ext cx="2560320" cy="1364476"/>
          </a:xfrm>
          <a:prstGeom prst="rect">
            <a:avLst/>
          </a:prstGeom>
          <a:noFill/>
        </p:spPr>
        <p:txBody>
          <a:bodyPr wrap="square">
            <a:spAutoFit/>
          </a:bodyPr>
          <a:lstStyle/>
          <a:p>
            <a:pPr>
              <a:spcAft>
                <a:spcPts val="400"/>
              </a:spcAft>
            </a:pPr>
            <a:r>
              <a:rPr sz="1100" b="1" dirty="0">
                <a:solidFill>
                  <a:srgbClr val="E8901E"/>
                </a:solidFill>
                <a:latin typeface="Arial"/>
              </a:rPr>
              <a:t>▸  </a:t>
            </a:r>
            <a:r>
              <a:rPr sz="1100" dirty="0">
                <a:solidFill>
                  <a:srgbClr val="272727"/>
                </a:solidFill>
                <a:latin typeface="Arial"/>
              </a:rPr>
              <a:t>SharePoint cleanup + taxonomy</a:t>
            </a:r>
          </a:p>
          <a:p>
            <a:pPr>
              <a:spcAft>
                <a:spcPts val="400"/>
              </a:spcAft>
            </a:pPr>
            <a:r>
              <a:rPr sz="1100" b="1" dirty="0">
                <a:solidFill>
                  <a:srgbClr val="E8901E"/>
                </a:solidFill>
                <a:latin typeface="Arial"/>
              </a:rPr>
              <a:t>▸  </a:t>
            </a:r>
            <a:r>
              <a:rPr sz="1100" dirty="0">
                <a:solidFill>
                  <a:srgbClr val="272727"/>
                </a:solidFill>
                <a:latin typeface="Arial"/>
              </a:rPr>
              <a:t>Program memory template</a:t>
            </a:r>
          </a:p>
          <a:p>
            <a:pPr>
              <a:spcAft>
                <a:spcPts val="400"/>
              </a:spcAft>
            </a:pPr>
            <a:r>
              <a:rPr sz="1100" b="1" dirty="0">
                <a:solidFill>
                  <a:srgbClr val="E8901E"/>
                </a:solidFill>
                <a:latin typeface="Arial"/>
              </a:rPr>
              <a:t>▸  </a:t>
            </a:r>
            <a:r>
              <a:rPr sz="1100" dirty="0">
                <a:solidFill>
                  <a:srgbClr val="272727"/>
                </a:solidFill>
                <a:latin typeface="Arial"/>
              </a:rPr>
              <a:t>Rubric Vault architecture</a:t>
            </a:r>
          </a:p>
          <a:p>
            <a:pPr>
              <a:spcAft>
                <a:spcPts val="400"/>
              </a:spcAft>
            </a:pPr>
            <a:r>
              <a:rPr sz="1100" b="1" dirty="0">
                <a:solidFill>
                  <a:srgbClr val="E8901E"/>
                </a:solidFill>
                <a:latin typeface="Arial"/>
              </a:rPr>
              <a:t>▸  </a:t>
            </a:r>
            <a:r>
              <a:rPr sz="1100" dirty="0">
                <a:solidFill>
                  <a:srgbClr val="272727"/>
                </a:solidFill>
                <a:latin typeface="Arial"/>
              </a:rPr>
              <a:t>Feedback report automation</a:t>
            </a:r>
          </a:p>
          <a:p>
            <a:pPr>
              <a:spcAft>
                <a:spcPts val="400"/>
              </a:spcAft>
            </a:pPr>
            <a:r>
              <a:rPr sz="1100" b="1" dirty="0">
                <a:solidFill>
                  <a:srgbClr val="E8901E"/>
                </a:solidFill>
                <a:latin typeface="Arial"/>
              </a:rPr>
              <a:t>▸  </a:t>
            </a:r>
            <a:r>
              <a:rPr sz="1100" dirty="0">
                <a:solidFill>
                  <a:srgbClr val="272727"/>
                </a:solidFill>
                <a:latin typeface="Arial"/>
              </a:rPr>
              <a:t>Faculty database MVP</a:t>
            </a:r>
          </a:p>
          <a:p>
            <a:pPr>
              <a:spcAft>
                <a:spcPts val="400"/>
              </a:spcAft>
            </a:pPr>
            <a:r>
              <a:rPr sz="1100" b="1" dirty="0">
                <a:solidFill>
                  <a:srgbClr val="E8901E"/>
                </a:solidFill>
                <a:latin typeface="Arial"/>
              </a:rPr>
              <a:t>▸  </a:t>
            </a:r>
            <a:r>
              <a:rPr sz="1100" dirty="0">
                <a:solidFill>
                  <a:srgbClr val="272727"/>
                </a:solidFill>
                <a:latin typeface="Arial"/>
              </a:rPr>
              <a:t>AI safety workshop</a:t>
            </a:r>
          </a:p>
        </p:txBody>
      </p:sp>
      <p:sp>
        <p:nvSpPr>
          <p:cNvPr id="12" name="Rectangle 11"/>
          <p:cNvSpPr/>
          <p:nvPr/>
        </p:nvSpPr>
        <p:spPr>
          <a:xfrm>
            <a:off x="3154680" y="1051560"/>
            <a:ext cx="2743200" cy="59436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46120" y="1078992"/>
            <a:ext cx="2560320" cy="411257"/>
          </a:xfrm>
          <a:prstGeom prst="rect">
            <a:avLst/>
          </a:prstGeom>
          <a:noFill/>
        </p:spPr>
        <p:txBody>
          <a:bodyPr wrap="square" lIns="36000" tIns="36000" rIns="36000" bIns="36000" anchor="t">
            <a:spAutoFit/>
          </a:bodyPr>
          <a:lstStyle/>
          <a:p>
            <a:pPr algn="ctr"/>
            <a:r>
              <a:rPr sz="1100" b="1" dirty="0">
                <a:solidFill>
                  <a:srgbClr val="FFFFFF"/>
                </a:solidFill>
                <a:latin typeface="Arial"/>
              </a:rPr>
              <a:t>PHASE 2</a:t>
            </a:r>
          </a:p>
          <a:p>
            <a:pPr algn="ctr"/>
            <a:r>
              <a:rPr sz="1100" b="1" dirty="0">
                <a:solidFill>
                  <a:srgbClr val="FFFFFF"/>
                </a:solidFill>
                <a:latin typeface="Arial"/>
              </a:rPr>
              <a:t>3–6 months</a:t>
            </a:r>
          </a:p>
        </p:txBody>
      </p:sp>
      <p:sp>
        <p:nvSpPr>
          <p:cNvPr id="14" name="TextBox 13"/>
          <p:cNvSpPr txBox="1"/>
          <p:nvPr/>
        </p:nvSpPr>
        <p:spPr>
          <a:xfrm>
            <a:off x="3246120" y="1422400"/>
            <a:ext cx="2560320" cy="226591"/>
          </a:xfrm>
          <a:prstGeom prst="rect">
            <a:avLst/>
          </a:prstGeom>
          <a:noFill/>
        </p:spPr>
        <p:txBody>
          <a:bodyPr wrap="square" lIns="36000" tIns="36000" rIns="36000" bIns="36000" anchor="t">
            <a:spAutoFit/>
          </a:bodyPr>
          <a:lstStyle/>
          <a:p>
            <a:pPr algn="ctr"/>
            <a:r>
              <a:rPr sz="1000" b="0" dirty="0">
                <a:solidFill>
                  <a:srgbClr val="E8901E"/>
                </a:solidFill>
                <a:latin typeface="Arial"/>
              </a:rPr>
              <a:t>Controlled pilots</a:t>
            </a:r>
          </a:p>
        </p:txBody>
      </p:sp>
      <p:sp>
        <p:nvSpPr>
          <p:cNvPr id="15" name="Rectangle 14"/>
          <p:cNvSpPr/>
          <p:nvPr/>
        </p:nvSpPr>
        <p:spPr>
          <a:xfrm>
            <a:off x="3154680" y="1691640"/>
            <a:ext cx="2743200" cy="233172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46120" y="1783080"/>
            <a:ext cx="2560320" cy="1364476"/>
          </a:xfrm>
          <a:prstGeom prst="rect">
            <a:avLst/>
          </a:prstGeom>
          <a:noFill/>
        </p:spPr>
        <p:txBody>
          <a:bodyPr wrap="square">
            <a:spAutoFit/>
          </a:bodyPr>
          <a:lstStyle/>
          <a:p>
            <a:pPr>
              <a:spcAft>
                <a:spcPts val="400"/>
              </a:spcAft>
            </a:pPr>
            <a:r>
              <a:rPr sz="1100" b="1" dirty="0">
                <a:solidFill>
                  <a:srgbClr val="E8901E"/>
                </a:solidFill>
                <a:latin typeface="Arial"/>
              </a:rPr>
              <a:t>▸  </a:t>
            </a:r>
            <a:r>
              <a:rPr sz="1100" dirty="0">
                <a:solidFill>
                  <a:srgbClr val="272727"/>
                </a:solidFill>
                <a:latin typeface="Arial"/>
              </a:rPr>
              <a:t>Custom proposal assistant</a:t>
            </a:r>
          </a:p>
          <a:p>
            <a:pPr>
              <a:spcAft>
                <a:spcPts val="400"/>
              </a:spcAft>
            </a:pPr>
            <a:r>
              <a:rPr sz="1100" b="1" dirty="0">
                <a:solidFill>
                  <a:srgbClr val="E8901E"/>
                </a:solidFill>
                <a:latin typeface="Arial"/>
              </a:rPr>
              <a:t>▸  </a:t>
            </a:r>
            <a:r>
              <a:rPr sz="1100" dirty="0">
                <a:solidFill>
                  <a:srgbClr val="272727"/>
                </a:solidFill>
                <a:latin typeface="Arial"/>
              </a:rPr>
              <a:t>Nomination tracker + reminders</a:t>
            </a:r>
          </a:p>
          <a:p>
            <a:pPr>
              <a:spcAft>
                <a:spcPts val="400"/>
              </a:spcAft>
            </a:pPr>
            <a:r>
              <a:rPr sz="1100" b="1" dirty="0">
                <a:solidFill>
                  <a:srgbClr val="E8901E"/>
                </a:solidFill>
                <a:latin typeface="Arial"/>
              </a:rPr>
              <a:t>▸  </a:t>
            </a:r>
            <a:r>
              <a:rPr sz="1100" dirty="0">
                <a:solidFill>
                  <a:srgbClr val="272727"/>
                </a:solidFill>
                <a:latin typeface="Arial"/>
              </a:rPr>
              <a:t>Faculty matching MVP</a:t>
            </a:r>
          </a:p>
          <a:p>
            <a:pPr>
              <a:spcAft>
                <a:spcPts val="400"/>
              </a:spcAft>
            </a:pPr>
            <a:r>
              <a:rPr sz="1100" b="1" dirty="0">
                <a:solidFill>
                  <a:srgbClr val="E8901E"/>
                </a:solidFill>
                <a:latin typeface="Arial"/>
              </a:rPr>
              <a:t>▸  </a:t>
            </a:r>
            <a:r>
              <a:rPr sz="1100" dirty="0">
                <a:solidFill>
                  <a:srgbClr val="272727"/>
                </a:solidFill>
                <a:latin typeface="Arial"/>
              </a:rPr>
              <a:t>Content reuse (tagged search)</a:t>
            </a:r>
          </a:p>
          <a:p>
            <a:pPr>
              <a:spcAft>
                <a:spcPts val="400"/>
              </a:spcAft>
            </a:pPr>
            <a:r>
              <a:rPr sz="1100" b="1" dirty="0">
                <a:solidFill>
                  <a:srgbClr val="E8901E"/>
                </a:solidFill>
                <a:latin typeface="Arial"/>
              </a:rPr>
              <a:t>▸  </a:t>
            </a:r>
            <a:r>
              <a:rPr sz="1100" dirty="0">
                <a:solidFill>
                  <a:srgbClr val="272727"/>
                </a:solidFill>
                <a:latin typeface="Arial"/>
              </a:rPr>
              <a:t>Candidate triage pilot</a:t>
            </a:r>
          </a:p>
          <a:p>
            <a:pPr>
              <a:spcAft>
                <a:spcPts val="400"/>
              </a:spcAft>
            </a:pPr>
            <a:r>
              <a:rPr sz="1100" b="1" dirty="0">
                <a:solidFill>
                  <a:srgbClr val="E8901E"/>
                </a:solidFill>
                <a:latin typeface="Arial"/>
              </a:rPr>
              <a:t>▸  </a:t>
            </a:r>
            <a:r>
              <a:rPr sz="1100" dirty="0">
                <a:solidFill>
                  <a:srgbClr val="272727"/>
                </a:solidFill>
                <a:latin typeface="Arial"/>
              </a:rPr>
              <a:t>Alumni update pilot</a:t>
            </a:r>
          </a:p>
        </p:txBody>
      </p:sp>
      <p:sp>
        <p:nvSpPr>
          <p:cNvPr id="17" name="Rectangle 16"/>
          <p:cNvSpPr/>
          <p:nvPr/>
        </p:nvSpPr>
        <p:spPr>
          <a:xfrm>
            <a:off x="5989320" y="1051560"/>
            <a:ext cx="2743200" cy="59436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80760" y="1078992"/>
            <a:ext cx="2560320" cy="411257"/>
          </a:xfrm>
          <a:prstGeom prst="rect">
            <a:avLst/>
          </a:prstGeom>
          <a:noFill/>
        </p:spPr>
        <p:txBody>
          <a:bodyPr wrap="square" lIns="36000" tIns="36000" rIns="36000" bIns="36000" anchor="t">
            <a:spAutoFit/>
          </a:bodyPr>
          <a:lstStyle/>
          <a:p>
            <a:pPr algn="ctr"/>
            <a:r>
              <a:rPr sz="1100" b="1" dirty="0">
                <a:solidFill>
                  <a:srgbClr val="FFFFFF"/>
                </a:solidFill>
                <a:latin typeface="Arial"/>
              </a:rPr>
              <a:t>PHASE 3</a:t>
            </a:r>
          </a:p>
          <a:p>
            <a:pPr algn="ctr"/>
            <a:r>
              <a:rPr sz="1100" b="1" dirty="0">
                <a:solidFill>
                  <a:srgbClr val="FFFFFF"/>
                </a:solidFill>
                <a:latin typeface="Arial"/>
              </a:rPr>
              <a:t>6–18 months</a:t>
            </a:r>
          </a:p>
        </p:txBody>
      </p:sp>
      <p:sp>
        <p:nvSpPr>
          <p:cNvPr id="19" name="TextBox 18"/>
          <p:cNvSpPr txBox="1"/>
          <p:nvPr/>
        </p:nvSpPr>
        <p:spPr>
          <a:xfrm>
            <a:off x="6080760" y="1407160"/>
            <a:ext cx="2560320" cy="226591"/>
          </a:xfrm>
          <a:prstGeom prst="rect">
            <a:avLst/>
          </a:prstGeom>
          <a:noFill/>
        </p:spPr>
        <p:txBody>
          <a:bodyPr wrap="square" lIns="36000" tIns="36000" rIns="36000" bIns="36000" anchor="t">
            <a:spAutoFit/>
          </a:bodyPr>
          <a:lstStyle/>
          <a:p>
            <a:pPr algn="ctr"/>
            <a:r>
              <a:rPr sz="1000" b="0" dirty="0" err="1">
                <a:solidFill>
                  <a:srgbClr val="E8901E"/>
                </a:solidFill>
                <a:latin typeface="Arial"/>
              </a:rPr>
              <a:t>Platformisation</a:t>
            </a:r>
            <a:endParaRPr sz="1000" b="0" dirty="0">
              <a:solidFill>
                <a:srgbClr val="E8901E"/>
              </a:solidFill>
              <a:latin typeface="Arial"/>
            </a:endParaRPr>
          </a:p>
        </p:txBody>
      </p:sp>
      <p:sp>
        <p:nvSpPr>
          <p:cNvPr id="20" name="Rectangle 19"/>
          <p:cNvSpPr/>
          <p:nvPr/>
        </p:nvSpPr>
        <p:spPr>
          <a:xfrm>
            <a:off x="5989320" y="1691640"/>
            <a:ext cx="2743200" cy="233172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80760" y="1783080"/>
            <a:ext cx="2560320" cy="1479892"/>
          </a:xfrm>
          <a:prstGeom prst="rect">
            <a:avLst/>
          </a:prstGeom>
          <a:noFill/>
        </p:spPr>
        <p:txBody>
          <a:bodyPr wrap="square">
            <a:spAutoFit/>
          </a:bodyPr>
          <a:lstStyle/>
          <a:p>
            <a:pPr>
              <a:spcAft>
                <a:spcPts val="400"/>
              </a:spcAft>
            </a:pPr>
            <a:r>
              <a:rPr sz="1050" b="1" dirty="0">
                <a:solidFill>
                  <a:srgbClr val="E8901E"/>
                </a:solidFill>
                <a:latin typeface="Arial"/>
              </a:rPr>
              <a:t>▸  </a:t>
            </a:r>
            <a:r>
              <a:rPr sz="1050" dirty="0">
                <a:solidFill>
                  <a:srgbClr val="272727"/>
                </a:solidFill>
                <a:latin typeface="Arial"/>
              </a:rPr>
              <a:t>LMS integration</a:t>
            </a:r>
          </a:p>
          <a:p>
            <a:pPr>
              <a:spcAft>
                <a:spcPts val="400"/>
              </a:spcAft>
            </a:pPr>
            <a:r>
              <a:rPr sz="1050" b="1" dirty="0">
                <a:solidFill>
                  <a:srgbClr val="E8901E"/>
                </a:solidFill>
                <a:latin typeface="Arial"/>
              </a:rPr>
              <a:t>▸  </a:t>
            </a:r>
            <a:r>
              <a:rPr sz="1050" dirty="0">
                <a:solidFill>
                  <a:srgbClr val="272727"/>
                </a:solidFill>
                <a:latin typeface="Arial"/>
              </a:rPr>
              <a:t>Program asset graph</a:t>
            </a:r>
          </a:p>
          <a:p>
            <a:pPr>
              <a:spcAft>
                <a:spcPts val="400"/>
              </a:spcAft>
            </a:pPr>
            <a:r>
              <a:rPr sz="1050" b="1" dirty="0">
                <a:solidFill>
                  <a:srgbClr val="E8901E"/>
                </a:solidFill>
                <a:latin typeface="Arial"/>
              </a:rPr>
              <a:t>▸  </a:t>
            </a:r>
            <a:r>
              <a:rPr sz="1050" dirty="0">
                <a:solidFill>
                  <a:srgbClr val="272727"/>
                </a:solidFill>
                <a:latin typeface="Arial"/>
              </a:rPr>
              <a:t>Role-based workbenches</a:t>
            </a:r>
          </a:p>
          <a:p>
            <a:pPr>
              <a:spcAft>
                <a:spcPts val="400"/>
              </a:spcAft>
            </a:pPr>
            <a:r>
              <a:rPr sz="1050" b="1" dirty="0">
                <a:solidFill>
                  <a:srgbClr val="E8901E"/>
                </a:solidFill>
                <a:latin typeface="Arial"/>
              </a:rPr>
              <a:t>▸  </a:t>
            </a:r>
            <a:r>
              <a:rPr sz="1050" dirty="0">
                <a:solidFill>
                  <a:srgbClr val="272727"/>
                </a:solidFill>
                <a:latin typeface="Arial"/>
              </a:rPr>
              <a:t>Cohort + </a:t>
            </a:r>
            <a:r>
              <a:rPr lang="en-US" sz="1050" dirty="0">
                <a:solidFill>
                  <a:srgbClr val="272727"/>
                </a:solidFill>
                <a:latin typeface="Arial"/>
              </a:rPr>
              <a:t>Group company</a:t>
            </a:r>
            <a:r>
              <a:rPr sz="1050" dirty="0">
                <a:solidFill>
                  <a:srgbClr val="272727"/>
                </a:solidFill>
                <a:latin typeface="Arial"/>
              </a:rPr>
              <a:t> intelligence</a:t>
            </a:r>
          </a:p>
          <a:p>
            <a:pPr>
              <a:spcAft>
                <a:spcPts val="400"/>
              </a:spcAft>
            </a:pPr>
            <a:r>
              <a:rPr sz="1050" b="1" dirty="0">
                <a:solidFill>
                  <a:srgbClr val="E8901E"/>
                </a:solidFill>
                <a:latin typeface="Arial"/>
              </a:rPr>
              <a:t>▸  </a:t>
            </a:r>
            <a:r>
              <a:rPr lang="en-US" sz="1050" b="1" dirty="0">
                <a:solidFill>
                  <a:srgbClr val="E8901E"/>
                </a:solidFill>
                <a:latin typeface="Arial"/>
              </a:rPr>
              <a:t>Program </a:t>
            </a:r>
            <a:r>
              <a:rPr sz="1050" dirty="0">
                <a:solidFill>
                  <a:srgbClr val="272727"/>
                </a:solidFill>
                <a:latin typeface="Arial"/>
              </a:rPr>
              <a:t>Impact dashboard</a:t>
            </a:r>
          </a:p>
          <a:p>
            <a:pPr>
              <a:spcAft>
                <a:spcPts val="400"/>
              </a:spcAft>
            </a:pPr>
            <a:r>
              <a:rPr sz="1050" b="1" dirty="0">
                <a:solidFill>
                  <a:srgbClr val="E8901E"/>
                </a:solidFill>
                <a:latin typeface="Arial"/>
              </a:rPr>
              <a:t>▸  </a:t>
            </a:r>
            <a:r>
              <a:rPr lang="en-US" sz="1050" b="1" dirty="0">
                <a:solidFill>
                  <a:srgbClr val="E8901E"/>
                </a:solidFill>
                <a:latin typeface="Arial"/>
              </a:rPr>
              <a:t>Learning Program </a:t>
            </a:r>
            <a:r>
              <a:rPr sz="1050" dirty="0">
                <a:solidFill>
                  <a:srgbClr val="272727"/>
                </a:solidFill>
                <a:latin typeface="Arial"/>
              </a:rPr>
              <a:t>Journey Studio</a:t>
            </a:r>
          </a:p>
        </p:txBody>
      </p:sp>
      <p:sp>
        <p:nvSpPr>
          <p:cNvPr id="22" name="Rectangle 21"/>
          <p:cNvSpPr/>
          <p:nvPr/>
        </p:nvSpPr>
        <p:spPr>
          <a:xfrm>
            <a:off x="320040" y="4160520"/>
            <a:ext cx="8412480" cy="502920"/>
          </a:xfrm>
          <a:prstGeom prst="rect">
            <a:avLst/>
          </a:prstGeom>
          <a:solidFill>
            <a:srgbClr val="E6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282442"/>
            <a:ext cx="8229600" cy="241980"/>
          </a:xfrm>
          <a:prstGeom prst="rect">
            <a:avLst/>
          </a:prstGeom>
          <a:noFill/>
        </p:spPr>
        <p:txBody>
          <a:bodyPr wrap="square" lIns="36000" tIns="36000" rIns="36000" bIns="36000" anchor="t">
            <a:spAutoFit/>
          </a:bodyPr>
          <a:lstStyle/>
          <a:p>
            <a:pPr algn="ctr"/>
            <a:r>
              <a:rPr sz="1100" b="1" dirty="0">
                <a:solidFill>
                  <a:srgbClr val="001B5B"/>
                </a:solidFill>
                <a:latin typeface="Arial"/>
              </a:rPr>
              <a:t>Each phase builds the data layer the next phase needs. Governance and decision-rights framework runs across all three.</a:t>
            </a:r>
          </a:p>
        </p:txBody>
      </p:sp>
      <p:sp>
        <p:nvSpPr>
          <p:cNvPr id="24" name="TextBox 23"/>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10 / 1</a:t>
            </a:r>
            <a:r>
              <a:rPr lang="en-US" sz="800" dirty="0">
                <a:solidFill>
                  <a:srgbClr val="999999"/>
                </a:solidFill>
                <a:latin typeface="Arial"/>
              </a:rPr>
              <a:t>1</a:t>
            </a:r>
            <a:endParaRPr sz="800" b="0" dirty="0">
              <a:solidFill>
                <a:srgbClr val="999999"/>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8229600" cy="640080"/>
          </a:xfrm>
          <a:prstGeom prst="rect">
            <a:avLst/>
          </a:prstGeom>
          <a:noFill/>
        </p:spPr>
        <p:txBody>
          <a:bodyPr wrap="square" lIns="36000" tIns="36000" rIns="36000" bIns="36000" anchor="t">
            <a:spAutoFit/>
          </a:bodyPr>
          <a:lstStyle/>
          <a:p>
            <a:pPr algn="l"/>
            <a:r>
              <a:rPr sz="1800" b="1">
                <a:solidFill>
                  <a:srgbClr val="001B5B"/>
                </a:solidFill>
                <a:latin typeface="Arial"/>
              </a:rPr>
              <a:t>Three decisions the organisation needs to make</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228600"/>
          </a:xfrm>
          <a:prstGeom prst="rect">
            <a:avLst/>
          </a:prstGeom>
          <a:noFill/>
        </p:spPr>
        <p:txBody>
          <a:bodyPr wrap="square" lIns="36000" tIns="36000" rIns="36000" bIns="36000" anchor="t">
            <a:spAutoFit/>
          </a:bodyPr>
          <a:lstStyle/>
          <a:p>
            <a:pPr algn="l"/>
            <a:r>
              <a:rPr sz="800" b="0">
                <a:solidFill>
                  <a:srgbClr val="999999"/>
                </a:solidFill>
                <a:latin typeface="Arial"/>
              </a:rPr>
              <a:t>AI-NATIVE HR · PANEL PRESENTATION</a:t>
            </a:r>
          </a:p>
        </p:txBody>
      </p:sp>
      <p:sp>
        <p:nvSpPr>
          <p:cNvPr id="6" name="TextBox 5"/>
          <p:cNvSpPr txBox="1"/>
          <p:nvPr/>
        </p:nvSpPr>
        <p:spPr>
          <a:xfrm>
            <a:off x="457200" y="841248"/>
            <a:ext cx="2743200" cy="228600"/>
          </a:xfrm>
          <a:prstGeom prst="rect">
            <a:avLst/>
          </a:prstGeom>
          <a:noFill/>
        </p:spPr>
        <p:txBody>
          <a:bodyPr wrap="square" lIns="36000" tIns="36000" rIns="36000" bIns="36000" anchor="t">
            <a:spAutoFit/>
          </a:bodyPr>
          <a:lstStyle/>
          <a:p>
            <a:pPr algn="l"/>
            <a:r>
              <a:rPr sz="800" b="1">
                <a:solidFill>
                  <a:srgbClr val="E8901E"/>
                </a:solidFill>
                <a:latin typeface="Arial"/>
              </a:rPr>
              <a:t>RECOMMENDATIONS</a:t>
            </a:r>
          </a:p>
        </p:txBody>
      </p:sp>
      <p:sp>
        <p:nvSpPr>
          <p:cNvPr id="7" name="Rectangle 6"/>
          <p:cNvSpPr/>
          <p:nvPr/>
        </p:nvSpPr>
        <p:spPr>
          <a:xfrm>
            <a:off x="457200" y="1051560"/>
            <a:ext cx="8229600" cy="109728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051560"/>
            <a:ext cx="640080" cy="109728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548640" cy="457200"/>
          </a:xfrm>
          <a:prstGeom prst="rect">
            <a:avLst/>
          </a:prstGeom>
          <a:noFill/>
        </p:spPr>
        <p:txBody>
          <a:bodyPr wrap="square" lIns="36000" tIns="36000" rIns="36000" bIns="36000" anchor="t">
            <a:spAutoFit/>
          </a:bodyPr>
          <a:lstStyle/>
          <a:p>
            <a:pPr algn="ctr"/>
            <a:r>
              <a:rPr sz="2200" b="1">
                <a:solidFill>
                  <a:srgbClr val="E8901E"/>
                </a:solidFill>
                <a:latin typeface="Arial"/>
              </a:rPr>
              <a:t>01</a:t>
            </a:r>
          </a:p>
        </p:txBody>
      </p:sp>
      <p:sp>
        <p:nvSpPr>
          <p:cNvPr id="10" name="TextBox 9"/>
          <p:cNvSpPr txBox="1"/>
          <p:nvPr/>
        </p:nvSpPr>
        <p:spPr>
          <a:xfrm>
            <a:off x="1234440" y="1188720"/>
            <a:ext cx="7132320" cy="274320"/>
          </a:xfrm>
          <a:prstGeom prst="rect">
            <a:avLst/>
          </a:prstGeom>
          <a:noFill/>
        </p:spPr>
        <p:txBody>
          <a:bodyPr wrap="square" lIns="36000" tIns="36000" rIns="36000" bIns="36000" anchor="t">
            <a:spAutoFit/>
          </a:bodyPr>
          <a:lstStyle/>
          <a:p>
            <a:pPr algn="l"/>
            <a:r>
              <a:rPr sz="1200" b="1">
                <a:solidFill>
                  <a:srgbClr val="001B5B"/>
                </a:solidFill>
                <a:latin typeface="Arial"/>
              </a:rPr>
              <a:t>SOURCE OF TRUTH BEFORE LMS</a:t>
            </a:r>
          </a:p>
        </p:txBody>
      </p:sp>
      <p:sp>
        <p:nvSpPr>
          <p:cNvPr id="11" name="TextBox 10"/>
          <p:cNvSpPr txBox="1"/>
          <p:nvPr/>
        </p:nvSpPr>
        <p:spPr>
          <a:xfrm>
            <a:off x="1234440" y="1508760"/>
            <a:ext cx="7132320" cy="548640"/>
          </a:xfrm>
          <a:prstGeom prst="rect">
            <a:avLst/>
          </a:prstGeom>
          <a:noFill/>
        </p:spPr>
        <p:txBody>
          <a:bodyPr wrap="square" lIns="36000" tIns="36000" rIns="36000" bIns="36000" anchor="t">
            <a:spAutoFit/>
          </a:bodyPr>
          <a:lstStyle/>
          <a:p>
            <a:pPr algn="l"/>
            <a:r>
              <a:rPr sz="900" b="0">
                <a:solidFill>
                  <a:srgbClr val="272727"/>
                </a:solidFill>
                <a:latin typeface="Arial"/>
              </a:rPr>
              <a:t>What interim system holds program and candidate data while the LMS is being selected? SharePoint with structured metadata? MS Lists? A lightweight custom layer? This determines how quickly Phase 1 can start.</a:t>
            </a:r>
          </a:p>
        </p:txBody>
      </p:sp>
      <p:sp>
        <p:nvSpPr>
          <p:cNvPr id="12" name="Rectangle 11"/>
          <p:cNvSpPr/>
          <p:nvPr/>
        </p:nvSpPr>
        <p:spPr>
          <a:xfrm>
            <a:off x="457200" y="2286000"/>
            <a:ext cx="8229600" cy="109728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2286000"/>
            <a:ext cx="640080" cy="109728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2514600"/>
            <a:ext cx="548640" cy="457200"/>
          </a:xfrm>
          <a:prstGeom prst="rect">
            <a:avLst/>
          </a:prstGeom>
          <a:noFill/>
        </p:spPr>
        <p:txBody>
          <a:bodyPr wrap="square" lIns="36000" tIns="36000" rIns="36000" bIns="36000" anchor="t">
            <a:spAutoFit/>
          </a:bodyPr>
          <a:lstStyle/>
          <a:p>
            <a:pPr algn="ctr"/>
            <a:r>
              <a:rPr sz="2200" b="1">
                <a:solidFill>
                  <a:srgbClr val="E8901E"/>
                </a:solidFill>
                <a:latin typeface="Arial"/>
              </a:rPr>
              <a:t>02</a:t>
            </a:r>
          </a:p>
        </p:txBody>
      </p:sp>
      <p:sp>
        <p:nvSpPr>
          <p:cNvPr id="15" name="TextBox 14"/>
          <p:cNvSpPr txBox="1"/>
          <p:nvPr/>
        </p:nvSpPr>
        <p:spPr>
          <a:xfrm>
            <a:off x="1234440" y="2423160"/>
            <a:ext cx="7132320" cy="274320"/>
          </a:xfrm>
          <a:prstGeom prst="rect">
            <a:avLst/>
          </a:prstGeom>
          <a:noFill/>
        </p:spPr>
        <p:txBody>
          <a:bodyPr wrap="square" lIns="36000" tIns="36000" rIns="36000" bIns="36000" anchor="t">
            <a:spAutoFit/>
          </a:bodyPr>
          <a:lstStyle/>
          <a:p>
            <a:pPr algn="l"/>
            <a:r>
              <a:rPr sz="1200" b="1">
                <a:solidFill>
                  <a:srgbClr val="001B5B"/>
                </a:solidFill>
                <a:latin typeface="Arial"/>
              </a:rPr>
              <a:t>CONSENT MODEL FOR DATA</a:t>
            </a:r>
          </a:p>
        </p:txBody>
      </p:sp>
      <p:sp>
        <p:nvSpPr>
          <p:cNvPr id="16" name="TextBox 15"/>
          <p:cNvSpPr txBox="1"/>
          <p:nvPr/>
        </p:nvSpPr>
        <p:spPr>
          <a:xfrm>
            <a:off x="1234440" y="2743200"/>
            <a:ext cx="7132320" cy="548640"/>
          </a:xfrm>
          <a:prstGeom prst="rect">
            <a:avLst/>
          </a:prstGeom>
          <a:noFill/>
        </p:spPr>
        <p:txBody>
          <a:bodyPr wrap="square" lIns="36000" tIns="36000" rIns="36000" bIns="36000" anchor="t">
            <a:spAutoFit/>
          </a:bodyPr>
          <a:lstStyle/>
          <a:p>
            <a:pPr algn="l"/>
            <a:r>
              <a:rPr sz="900" b="0">
                <a:solidFill>
                  <a:srgbClr val="272727"/>
                </a:solidFill>
                <a:latin typeface="Arial"/>
              </a:rPr>
              <a:t>What learner and candidate data can AI access, and under what rules? LinkedIn enrichment (public only, with consent)? LMS history? Post-program manager feedback? This determines how smart the AI can actually be.</a:t>
            </a:r>
          </a:p>
        </p:txBody>
      </p:sp>
      <p:sp>
        <p:nvSpPr>
          <p:cNvPr id="17" name="Rectangle 16"/>
          <p:cNvSpPr/>
          <p:nvPr/>
        </p:nvSpPr>
        <p:spPr>
          <a:xfrm>
            <a:off x="457200" y="3520440"/>
            <a:ext cx="8229600" cy="109728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3520440"/>
            <a:ext cx="640080" cy="109728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3749040"/>
            <a:ext cx="548640" cy="457200"/>
          </a:xfrm>
          <a:prstGeom prst="rect">
            <a:avLst/>
          </a:prstGeom>
          <a:noFill/>
        </p:spPr>
        <p:txBody>
          <a:bodyPr wrap="square" lIns="36000" tIns="36000" rIns="36000" bIns="36000" anchor="t">
            <a:spAutoFit/>
          </a:bodyPr>
          <a:lstStyle/>
          <a:p>
            <a:pPr algn="ctr"/>
            <a:r>
              <a:rPr sz="2200" b="1">
                <a:solidFill>
                  <a:srgbClr val="E8901E"/>
                </a:solidFill>
                <a:latin typeface="Arial"/>
              </a:rPr>
              <a:t>03</a:t>
            </a:r>
          </a:p>
        </p:txBody>
      </p:sp>
      <p:sp>
        <p:nvSpPr>
          <p:cNvPr id="20" name="TextBox 19"/>
          <p:cNvSpPr txBox="1"/>
          <p:nvPr/>
        </p:nvSpPr>
        <p:spPr>
          <a:xfrm>
            <a:off x="1234440" y="3657600"/>
            <a:ext cx="7132320" cy="274320"/>
          </a:xfrm>
          <a:prstGeom prst="rect">
            <a:avLst/>
          </a:prstGeom>
          <a:noFill/>
        </p:spPr>
        <p:txBody>
          <a:bodyPr wrap="square" lIns="36000" tIns="36000" rIns="36000" bIns="36000" anchor="t">
            <a:spAutoFit/>
          </a:bodyPr>
          <a:lstStyle/>
          <a:p>
            <a:pPr algn="l"/>
            <a:r>
              <a:rPr sz="1200" b="1">
                <a:solidFill>
                  <a:srgbClr val="001B5B"/>
                </a:solidFill>
                <a:latin typeface="Arial"/>
              </a:rPr>
              <a:t>GOVERNANCE OWNERSHIP</a:t>
            </a:r>
          </a:p>
        </p:txBody>
      </p:sp>
      <p:sp>
        <p:nvSpPr>
          <p:cNvPr id="21" name="TextBox 20"/>
          <p:cNvSpPr txBox="1"/>
          <p:nvPr/>
        </p:nvSpPr>
        <p:spPr>
          <a:xfrm>
            <a:off x="1234440" y="3977640"/>
            <a:ext cx="7132320" cy="548640"/>
          </a:xfrm>
          <a:prstGeom prst="rect">
            <a:avLst/>
          </a:prstGeom>
          <a:noFill/>
        </p:spPr>
        <p:txBody>
          <a:bodyPr wrap="square" lIns="36000" tIns="36000" rIns="36000" bIns="36000" anchor="t">
            <a:spAutoFit/>
          </a:bodyPr>
          <a:lstStyle/>
          <a:p>
            <a:pPr algn="l"/>
            <a:r>
              <a:rPr sz="900" b="0">
                <a:solidFill>
                  <a:srgbClr val="272727"/>
                </a:solidFill>
                <a:latin typeface="Arial"/>
              </a:rPr>
              <a:t>Who owns the AI governance framework — TMTC alone, or Group HR IT? TMTC-only is faster to start. Group HR IT is more sustainable. This determines the rollout model for other verticals.</a:t>
            </a:r>
          </a:p>
        </p:txBody>
      </p:sp>
      <p:sp>
        <p:nvSpPr>
          <p:cNvPr id="22" name="TextBox 21"/>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11 / 1</a:t>
            </a:r>
            <a:r>
              <a:rPr lang="en-US" sz="800" b="0" dirty="0">
                <a:solidFill>
                  <a:srgbClr val="999999"/>
                </a:solidFill>
                <a:latin typeface="Arial"/>
              </a:rPr>
              <a:t>2</a:t>
            </a:r>
            <a:endParaRPr sz="800" b="0" dirty="0">
              <a:solidFill>
                <a:srgbClr val="999999"/>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8229600" cy="640080"/>
          </a:xfrm>
          <a:prstGeom prst="rect">
            <a:avLst/>
          </a:prstGeom>
          <a:noFill/>
        </p:spPr>
        <p:txBody>
          <a:bodyPr wrap="square" lIns="36000" tIns="36000" rIns="36000" bIns="36000" anchor="t">
            <a:spAutoFit/>
          </a:bodyPr>
          <a:lstStyle/>
          <a:p>
            <a:pPr algn="l"/>
            <a:r>
              <a:rPr sz="1800" b="1">
                <a:solidFill>
                  <a:srgbClr val="001B5B"/>
                </a:solidFill>
                <a:latin typeface="Arial"/>
              </a:rPr>
              <a:t>What I learnt — and what the organisation can take forward</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228600"/>
          </a:xfrm>
          <a:prstGeom prst="rect">
            <a:avLst/>
          </a:prstGeom>
          <a:noFill/>
        </p:spPr>
        <p:txBody>
          <a:bodyPr wrap="square" lIns="36000" tIns="36000" rIns="36000" bIns="36000" anchor="t">
            <a:spAutoFit/>
          </a:bodyPr>
          <a:lstStyle/>
          <a:p>
            <a:pPr algn="l"/>
            <a:r>
              <a:rPr sz="800" b="0">
                <a:solidFill>
                  <a:srgbClr val="999999"/>
                </a:solidFill>
                <a:latin typeface="Arial"/>
              </a:rPr>
              <a:t>AI-NATIVE HR · PANEL PRESENTATION</a:t>
            </a:r>
          </a:p>
        </p:txBody>
      </p:sp>
      <p:sp>
        <p:nvSpPr>
          <p:cNvPr id="6" name="TextBox 5"/>
          <p:cNvSpPr txBox="1"/>
          <p:nvPr/>
        </p:nvSpPr>
        <p:spPr>
          <a:xfrm>
            <a:off x="457200" y="841248"/>
            <a:ext cx="2743200" cy="228600"/>
          </a:xfrm>
          <a:prstGeom prst="rect">
            <a:avLst/>
          </a:prstGeom>
          <a:noFill/>
        </p:spPr>
        <p:txBody>
          <a:bodyPr wrap="square" lIns="36000" tIns="36000" rIns="36000" bIns="36000" anchor="t">
            <a:spAutoFit/>
          </a:bodyPr>
          <a:lstStyle/>
          <a:p>
            <a:pPr algn="l"/>
            <a:r>
              <a:rPr sz="800" b="1">
                <a:solidFill>
                  <a:srgbClr val="E8901E"/>
                </a:solidFill>
                <a:latin typeface="Arial"/>
              </a:rPr>
              <a:t>LESSONS LEARNT</a:t>
            </a:r>
          </a:p>
        </p:txBody>
      </p:sp>
      <p:sp>
        <p:nvSpPr>
          <p:cNvPr id="7" name="Rectangle 6"/>
          <p:cNvSpPr/>
          <p:nvPr/>
        </p:nvSpPr>
        <p:spPr>
          <a:xfrm>
            <a:off x="457200" y="1051560"/>
            <a:ext cx="3977639" cy="356616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051560"/>
            <a:ext cx="3977639" cy="41148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097280"/>
            <a:ext cx="3657600" cy="320040"/>
          </a:xfrm>
          <a:prstGeom prst="rect">
            <a:avLst/>
          </a:prstGeom>
          <a:noFill/>
        </p:spPr>
        <p:txBody>
          <a:bodyPr wrap="square" lIns="36000" tIns="36000" rIns="36000" bIns="36000" anchor="t">
            <a:spAutoFit/>
          </a:bodyPr>
          <a:lstStyle/>
          <a:p>
            <a:pPr algn="l"/>
            <a:r>
              <a:rPr sz="1100" b="1">
                <a:solidFill>
                  <a:srgbClr val="FFFFFF"/>
                </a:solidFill>
                <a:latin typeface="Arial"/>
              </a:rPr>
              <a:t>FOR SELF</a:t>
            </a:r>
          </a:p>
        </p:txBody>
      </p:sp>
      <p:sp>
        <p:nvSpPr>
          <p:cNvPr id="10" name="TextBox 9"/>
          <p:cNvSpPr txBox="1"/>
          <p:nvPr/>
        </p:nvSpPr>
        <p:spPr>
          <a:xfrm>
            <a:off x="594360" y="1600200"/>
            <a:ext cx="3657600" cy="2834640"/>
          </a:xfrm>
          <a:prstGeom prst="rect">
            <a:avLst/>
          </a:prstGeom>
          <a:noFill/>
        </p:spPr>
        <p:txBody>
          <a:bodyPr wrap="square">
            <a:spAutoFit/>
          </a:bodyPr>
          <a:lstStyle/>
          <a:p>
            <a:pPr>
              <a:spcAft>
                <a:spcPts val="800"/>
              </a:spcAft>
            </a:pPr>
            <a:r>
              <a:rPr sz="900" b="1">
                <a:solidFill>
                  <a:srgbClr val="001B5B"/>
                </a:solidFill>
                <a:latin typeface="Arial"/>
              </a:rPr>
              <a:t>▸  </a:t>
            </a:r>
            <a:r>
              <a:rPr sz="900">
                <a:solidFill>
                  <a:srgbClr val="272727"/>
                </a:solidFill>
                <a:latin typeface="Arial"/>
              </a:rPr>
              <a:t>Process maps before solutions — understanding the current state deeply changed what I designed</a:t>
            </a:r>
          </a:p>
          <a:p>
            <a:pPr>
              <a:spcAft>
                <a:spcPts val="800"/>
              </a:spcAft>
            </a:pPr>
            <a:r>
              <a:rPr sz="900" b="1">
                <a:solidFill>
                  <a:srgbClr val="001B5B"/>
                </a:solidFill>
                <a:latin typeface="Arial"/>
              </a:rPr>
              <a:t>▸  </a:t>
            </a:r>
            <a:r>
              <a:rPr sz="900">
                <a:solidFill>
                  <a:srgbClr val="272727"/>
                </a:solidFill>
                <a:latin typeface="Arial"/>
              </a:rPr>
              <a:t>Prototyping is a trust accelerator — showing a working screen converts sceptics faster than a strategy slide</a:t>
            </a:r>
          </a:p>
          <a:p>
            <a:pPr>
              <a:spcAft>
                <a:spcPts val="800"/>
              </a:spcAft>
            </a:pPr>
            <a:r>
              <a:rPr sz="900" b="1">
                <a:solidFill>
                  <a:srgbClr val="001B5B"/>
                </a:solidFill>
                <a:latin typeface="Arial"/>
              </a:rPr>
              <a:t>▸  </a:t>
            </a:r>
            <a:r>
              <a:rPr sz="900">
                <a:solidFill>
                  <a:srgbClr val="272727"/>
                </a:solidFill>
                <a:latin typeface="Arial"/>
              </a:rPr>
              <a:t>MBB-grade citation discipline — every claim traceable to a source forces intellectual honesty</a:t>
            </a:r>
          </a:p>
          <a:p>
            <a:pPr>
              <a:spcAft>
                <a:spcPts val="800"/>
              </a:spcAft>
            </a:pPr>
            <a:r>
              <a:rPr sz="900" b="1">
                <a:solidFill>
                  <a:srgbClr val="001B5B"/>
                </a:solidFill>
                <a:latin typeface="Arial"/>
              </a:rPr>
              <a:t>▸  </a:t>
            </a:r>
            <a:r>
              <a:rPr sz="900">
                <a:solidFill>
                  <a:srgbClr val="272727"/>
                </a:solidFill>
                <a:latin typeface="Arial"/>
              </a:rPr>
              <a:t>Stakeholder-first discovery — the best design insights came from quotes, not frameworks</a:t>
            </a:r>
          </a:p>
          <a:p>
            <a:pPr>
              <a:spcAft>
                <a:spcPts val="800"/>
              </a:spcAft>
            </a:pPr>
            <a:r>
              <a:rPr sz="900" b="1">
                <a:solidFill>
                  <a:srgbClr val="001B5B"/>
                </a:solidFill>
                <a:latin typeface="Arial"/>
              </a:rPr>
              <a:t>▸  </a:t>
            </a:r>
            <a:r>
              <a:rPr sz="900">
                <a:solidFill>
                  <a:srgbClr val="272727"/>
                </a:solidFill>
                <a:latin typeface="Arial"/>
              </a:rPr>
              <a:t>AI governance is a design constraint, not an afterthought — the Sealed Rubric Vault emerged from one interview quote</a:t>
            </a:r>
          </a:p>
        </p:txBody>
      </p:sp>
      <p:sp>
        <p:nvSpPr>
          <p:cNvPr id="11" name="Rectangle 10"/>
          <p:cNvSpPr/>
          <p:nvPr/>
        </p:nvSpPr>
        <p:spPr>
          <a:xfrm>
            <a:off x="4663440" y="1051560"/>
            <a:ext cx="3977639" cy="356616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663440" y="1051560"/>
            <a:ext cx="3977639" cy="41148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00600" y="1097280"/>
            <a:ext cx="3657600" cy="320040"/>
          </a:xfrm>
          <a:prstGeom prst="rect">
            <a:avLst/>
          </a:prstGeom>
          <a:noFill/>
        </p:spPr>
        <p:txBody>
          <a:bodyPr wrap="square" lIns="36000" tIns="36000" rIns="36000" bIns="36000" anchor="t">
            <a:spAutoFit/>
          </a:bodyPr>
          <a:lstStyle/>
          <a:p>
            <a:pPr algn="l"/>
            <a:r>
              <a:rPr sz="1100" b="1">
                <a:solidFill>
                  <a:srgbClr val="FFFFFF"/>
                </a:solidFill>
                <a:latin typeface="Arial"/>
              </a:rPr>
              <a:t>FOR THE ORGANISATION</a:t>
            </a:r>
          </a:p>
        </p:txBody>
      </p:sp>
      <p:sp>
        <p:nvSpPr>
          <p:cNvPr id="14" name="TextBox 13"/>
          <p:cNvSpPr txBox="1"/>
          <p:nvPr/>
        </p:nvSpPr>
        <p:spPr>
          <a:xfrm>
            <a:off x="4800600" y="1600200"/>
            <a:ext cx="3657600" cy="2834640"/>
          </a:xfrm>
          <a:prstGeom prst="rect">
            <a:avLst/>
          </a:prstGeom>
          <a:noFill/>
        </p:spPr>
        <p:txBody>
          <a:bodyPr wrap="square">
            <a:spAutoFit/>
          </a:bodyPr>
          <a:lstStyle/>
          <a:p>
            <a:pPr>
              <a:spcAft>
                <a:spcPts val="800"/>
              </a:spcAft>
            </a:pPr>
            <a:r>
              <a:rPr sz="900" b="1">
                <a:solidFill>
                  <a:srgbClr val="E8901E"/>
                </a:solidFill>
                <a:latin typeface="Arial"/>
              </a:rPr>
              <a:t>▸  </a:t>
            </a:r>
            <a:r>
              <a:rPr sz="900">
                <a:solidFill>
                  <a:srgbClr val="272727"/>
                </a:solidFill>
                <a:latin typeface="Arial"/>
              </a:rPr>
              <a:t>AI-native is operating model redesign, not automation — bolting AI onto broken processes amplifies the breakage</a:t>
            </a:r>
          </a:p>
          <a:p>
            <a:pPr>
              <a:spcAft>
                <a:spcPts val="800"/>
              </a:spcAft>
            </a:pPr>
            <a:r>
              <a:rPr sz="900" b="1">
                <a:solidFill>
                  <a:srgbClr val="E8901E"/>
                </a:solidFill>
                <a:latin typeface="Arial"/>
              </a:rPr>
              <a:t>▸  </a:t>
            </a:r>
            <a:r>
              <a:rPr sz="900">
                <a:solidFill>
                  <a:srgbClr val="272727"/>
                </a:solidFill>
                <a:latin typeface="Arial"/>
              </a:rPr>
              <a:t>The "AI drafts, humans decide" principle scales across domains — 3 different verticals, same architecture</a:t>
            </a:r>
          </a:p>
          <a:p>
            <a:pPr>
              <a:spcAft>
                <a:spcPts val="800"/>
              </a:spcAft>
            </a:pPr>
            <a:r>
              <a:rPr sz="900" b="1">
                <a:solidFill>
                  <a:srgbClr val="E8901E"/>
                </a:solidFill>
                <a:latin typeface="Arial"/>
              </a:rPr>
              <a:t>▸  </a:t>
            </a:r>
            <a:r>
              <a:rPr sz="900">
                <a:solidFill>
                  <a:srgbClr val="272727"/>
                </a:solidFill>
                <a:latin typeface="Arial"/>
              </a:rPr>
              <a:t>Governance enables adoption, not blocks it — the Rubric Vault and confidence gates build trust, not bureaucracy</a:t>
            </a:r>
          </a:p>
          <a:p>
            <a:pPr>
              <a:spcAft>
                <a:spcPts val="800"/>
              </a:spcAft>
            </a:pPr>
            <a:r>
              <a:rPr sz="900" b="1">
                <a:solidFill>
                  <a:srgbClr val="E8901E"/>
                </a:solidFill>
                <a:latin typeface="Arial"/>
              </a:rPr>
              <a:t>▸  </a:t>
            </a:r>
            <a:r>
              <a:rPr sz="900">
                <a:solidFill>
                  <a:srgbClr val="272727"/>
                </a:solidFill>
                <a:latin typeface="Arial"/>
              </a:rPr>
              <a:t>Data quality before AI ambition — every AI feature is bottlenecked by the data fabric underneath it</a:t>
            </a:r>
          </a:p>
          <a:p>
            <a:pPr>
              <a:spcAft>
                <a:spcPts val="800"/>
              </a:spcAft>
            </a:pPr>
            <a:r>
              <a:rPr sz="900" b="1">
                <a:solidFill>
                  <a:srgbClr val="E8901E"/>
                </a:solidFill>
                <a:latin typeface="Arial"/>
              </a:rPr>
              <a:t>▸  </a:t>
            </a:r>
            <a:r>
              <a:rPr sz="900">
                <a:solidFill>
                  <a:srgbClr val="272727"/>
                </a:solidFill>
                <a:latin typeface="Arial"/>
              </a:rPr>
              <a:t>Prototype-driven engagement works — interactive demos converted abstract strategy into concrete commitment</a:t>
            </a:r>
          </a:p>
        </p:txBody>
      </p:sp>
      <p:sp>
        <p:nvSpPr>
          <p:cNvPr id="15" name="TextBox 14"/>
          <p:cNvSpPr txBox="1"/>
          <p:nvPr/>
        </p:nvSpPr>
        <p:spPr>
          <a:xfrm>
            <a:off x="8046720" y="4864608"/>
            <a:ext cx="914400" cy="228600"/>
          </a:xfrm>
          <a:prstGeom prst="rect">
            <a:avLst/>
          </a:prstGeom>
          <a:noFill/>
        </p:spPr>
        <p:txBody>
          <a:bodyPr wrap="square" lIns="36000" tIns="36000" rIns="36000" bIns="36000" anchor="t">
            <a:spAutoFit/>
          </a:bodyPr>
          <a:lstStyle/>
          <a:p>
            <a:pPr algn="r"/>
            <a:r>
              <a:rPr sz="800" b="0">
                <a:solidFill>
                  <a:srgbClr val="999999"/>
                </a:solidFill>
                <a:latin typeface="Arial"/>
              </a:rPr>
              <a:t>12 / 13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8229600" cy="380480"/>
          </a:xfrm>
          <a:prstGeom prst="rect">
            <a:avLst/>
          </a:prstGeom>
          <a:noFill/>
        </p:spPr>
        <p:txBody>
          <a:bodyPr wrap="square" lIns="36000" tIns="36000" rIns="36000" bIns="36000" anchor="t">
            <a:spAutoFit/>
          </a:bodyPr>
          <a:lstStyle/>
          <a:p>
            <a:pPr algn="l"/>
            <a:r>
              <a:rPr sz="2000" b="1" dirty="0">
                <a:solidFill>
                  <a:srgbClr val="001B5B"/>
                </a:solidFill>
                <a:latin typeface="Arial"/>
              </a:rPr>
              <a:t>Thank you </a:t>
            </a:r>
            <a:r>
              <a:rPr lang="en-US" sz="2000" b="1" dirty="0">
                <a:solidFill>
                  <a:srgbClr val="001B5B"/>
                </a:solidFill>
                <a:latin typeface="Arial"/>
              </a:rPr>
              <a:t>-</a:t>
            </a:r>
            <a:r>
              <a:rPr sz="2000" b="1" dirty="0">
                <a:solidFill>
                  <a:srgbClr val="001B5B"/>
                </a:solidFill>
                <a:latin typeface="Arial"/>
              </a:rPr>
              <a:t> deliverables and next steps</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228600"/>
          </a:xfrm>
          <a:prstGeom prst="rect">
            <a:avLst/>
          </a:prstGeom>
          <a:noFill/>
        </p:spPr>
        <p:txBody>
          <a:bodyPr wrap="square" lIns="36000" tIns="36000" rIns="36000" bIns="36000" anchor="t">
            <a:spAutoFit/>
          </a:bodyPr>
          <a:lstStyle/>
          <a:p>
            <a:pPr algn="l"/>
            <a:r>
              <a:rPr sz="800" b="0">
                <a:solidFill>
                  <a:srgbClr val="999999"/>
                </a:solidFill>
                <a:latin typeface="Arial"/>
              </a:rPr>
              <a:t>AI-NATIVE HR · PANEL PRESENTATION</a:t>
            </a:r>
          </a:p>
        </p:txBody>
      </p:sp>
      <p:sp>
        <p:nvSpPr>
          <p:cNvPr id="6" name="Rectangle 5"/>
          <p:cNvSpPr/>
          <p:nvPr/>
        </p:nvSpPr>
        <p:spPr>
          <a:xfrm>
            <a:off x="320040" y="1188720"/>
            <a:ext cx="1965960" cy="18288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188720"/>
            <a:ext cx="1965960" cy="64008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369908"/>
            <a:ext cx="1691640" cy="257369"/>
          </a:xfrm>
          <a:prstGeom prst="rect">
            <a:avLst/>
          </a:prstGeom>
          <a:noFill/>
        </p:spPr>
        <p:txBody>
          <a:bodyPr wrap="square" lIns="36000" tIns="36000" rIns="36000" bIns="36000" anchor="t">
            <a:spAutoFit/>
          </a:bodyPr>
          <a:lstStyle/>
          <a:p>
            <a:pPr algn="ctr"/>
            <a:r>
              <a:rPr sz="1200" b="1" dirty="0">
                <a:solidFill>
                  <a:srgbClr val="FFFFFF"/>
                </a:solidFill>
                <a:latin typeface="Arial"/>
              </a:rPr>
              <a:t>PROJECT REPORT</a:t>
            </a:r>
          </a:p>
        </p:txBody>
      </p:sp>
      <p:sp>
        <p:nvSpPr>
          <p:cNvPr id="9" name="TextBox 8"/>
          <p:cNvSpPr txBox="1"/>
          <p:nvPr/>
        </p:nvSpPr>
        <p:spPr>
          <a:xfrm>
            <a:off x="457200" y="1965960"/>
            <a:ext cx="1691640" cy="411257"/>
          </a:xfrm>
          <a:prstGeom prst="rect">
            <a:avLst/>
          </a:prstGeom>
          <a:noFill/>
        </p:spPr>
        <p:txBody>
          <a:bodyPr wrap="square" lIns="36000" tIns="36000" rIns="36000" bIns="36000" anchor="t">
            <a:spAutoFit/>
          </a:bodyPr>
          <a:lstStyle/>
          <a:p>
            <a:pPr algn="ctr"/>
            <a:r>
              <a:rPr sz="1100" b="0" dirty="0">
                <a:solidFill>
                  <a:srgbClr val="272727"/>
                </a:solidFill>
                <a:latin typeface="Arial"/>
              </a:rPr>
              <a:t>Full analysis, inline-cited,</a:t>
            </a:r>
          </a:p>
          <a:p>
            <a:pPr algn="ctr"/>
            <a:r>
              <a:rPr sz="1100" b="0" dirty="0">
                <a:solidFill>
                  <a:srgbClr val="272727"/>
                </a:solidFill>
                <a:latin typeface="Arial"/>
              </a:rPr>
              <a:t>18 sections</a:t>
            </a:r>
          </a:p>
        </p:txBody>
      </p:sp>
      <p:sp>
        <p:nvSpPr>
          <p:cNvPr id="10" name="Rectangle 9"/>
          <p:cNvSpPr/>
          <p:nvPr/>
        </p:nvSpPr>
        <p:spPr>
          <a:xfrm>
            <a:off x="2395728" y="1188720"/>
            <a:ext cx="1965960" cy="18288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395728" y="1188720"/>
            <a:ext cx="1965960" cy="64008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32888" y="1285241"/>
            <a:ext cx="1691640" cy="442035"/>
          </a:xfrm>
          <a:prstGeom prst="rect">
            <a:avLst/>
          </a:prstGeom>
          <a:noFill/>
        </p:spPr>
        <p:txBody>
          <a:bodyPr wrap="square" lIns="36000" tIns="36000" rIns="36000" bIns="36000" anchor="t">
            <a:spAutoFit/>
          </a:bodyPr>
          <a:lstStyle/>
          <a:p>
            <a:pPr algn="ctr"/>
            <a:r>
              <a:rPr sz="1200" b="1" dirty="0">
                <a:solidFill>
                  <a:srgbClr val="FFFFFF"/>
                </a:solidFill>
                <a:latin typeface="Arial"/>
              </a:rPr>
              <a:t>2 INTERACTIVE</a:t>
            </a:r>
          </a:p>
          <a:p>
            <a:pPr algn="ctr"/>
            <a:r>
              <a:rPr sz="1200" b="1" dirty="0">
                <a:solidFill>
                  <a:srgbClr val="FFFFFF"/>
                </a:solidFill>
                <a:latin typeface="Arial"/>
              </a:rPr>
              <a:t>PROTOTYPES</a:t>
            </a:r>
          </a:p>
        </p:txBody>
      </p:sp>
      <p:sp>
        <p:nvSpPr>
          <p:cNvPr id="13" name="TextBox 12"/>
          <p:cNvSpPr txBox="1"/>
          <p:nvPr/>
        </p:nvSpPr>
        <p:spPr>
          <a:xfrm>
            <a:off x="2532888" y="1965960"/>
            <a:ext cx="1691640" cy="411257"/>
          </a:xfrm>
          <a:prstGeom prst="rect">
            <a:avLst/>
          </a:prstGeom>
          <a:noFill/>
        </p:spPr>
        <p:txBody>
          <a:bodyPr wrap="square" lIns="36000" tIns="36000" rIns="36000" bIns="36000" anchor="t">
            <a:spAutoFit/>
          </a:bodyPr>
          <a:lstStyle/>
          <a:p>
            <a:pPr algn="ctr"/>
            <a:r>
              <a:rPr sz="1100" b="0" dirty="0">
                <a:solidFill>
                  <a:srgbClr val="272727"/>
                </a:solidFill>
                <a:latin typeface="Arial"/>
              </a:rPr>
              <a:t>TMTC Journey Studio</a:t>
            </a:r>
          </a:p>
          <a:p>
            <a:pPr algn="ctr"/>
            <a:r>
              <a:rPr sz="1100" b="0" dirty="0">
                <a:solidFill>
                  <a:srgbClr val="272727"/>
                </a:solidFill>
                <a:latin typeface="Arial"/>
              </a:rPr>
              <a:t>AI Hiring Platform</a:t>
            </a:r>
          </a:p>
        </p:txBody>
      </p:sp>
      <p:sp>
        <p:nvSpPr>
          <p:cNvPr id="14" name="Rectangle 13"/>
          <p:cNvSpPr/>
          <p:nvPr/>
        </p:nvSpPr>
        <p:spPr>
          <a:xfrm>
            <a:off x="4471416" y="1188720"/>
            <a:ext cx="1965960" cy="18288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471416" y="1188720"/>
            <a:ext cx="1965960" cy="64008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08576" y="1293709"/>
            <a:ext cx="1691640" cy="442035"/>
          </a:xfrm>
          <a:prstGeom prst="rect">
            <a:avLst/>
          </a:prstGeom>
          <a:noFill/>
        </p:spPr>
        <p:txBody>
          <a:bodyPr wrap="square" lIns="36000" tIns="36000" rIns="36000" bIns="36000" anchor="t">
            <a:spAutoFit/>
          </a:bodyPr>
          <a:lstStyle/>
          <a:p>
            <a:pPr algn="ctr"/>
            <a:r>
              <a:rPr sz="1200" b="1" dirty="0">
                <a:solidFill>
                  <a:srgbClr val="FFFFFF"/>
                </a:solidFill>
                <a:latin typeface="Arial"/>
              </a:rPr>
              <a:t>2 STRATEGY</a:t>
            </a:r>
          </a:p>
          <a:p>
            <a:pPr algn="ctr"/>
            <a:r>
              <a:rPr sz="1200" b="1" dirty="0">
                <a:solidFill>
                  <a:srgbClr val="FFFFFF"/>
                </a:solidFill>
                <a:latin typeface="Arial"/>
              </a:rPr>
              <a:t>MEMOS</a:t>
            </a:r>
          </a:p>
        </p:txBody>
      </p:sp>
      <p:sp>
        <p:nvSpPr>
          <p:cNvPr id="17" name="TextBox 16"/>
          <p:cNvSpPr txBox="1"/>
          <p:nvPr/>
        </p:nvSpPr>
        <p:spPr>
          <a:xfrm>
            <a:off x="4608576" y="1965960"/>
            <a:ext cx="1691640" cy="411257"/>
          </a:xfrm>
          <a:prstGeom prst="rect">
            <a:avLst/>
          </a:prstGeom>
          <a:noFill/>
        </p:spPr>
        <p:txBody>
          <a:bodyPr wrap="square" lIns="36000" tIns="36000" rIns="36000" bIns="36000" anchor="t">
            <a:spAutoFit/>
          </a:bodyPr>
          <a:lstStyle/>
          <a:p>
            <a:pPr algn="ctr"/>
            <a:r>
              <a:rPr sz="1100" b="0" dirty="0">
                <a:solidFill>
                  <a:srgbClr val="272727"/>
                </a:solidFill>
                <a:latin typeface="Arial"/>
              </a:rPr>
              <a:t>TMTC (19 agents)</a:t>
            </a:r>
          </a:p>
          <a:p>
            <a:pPr algn="ctr"/>
            <a:r>
              <a:rPr sz="1100" b="0" dirty="0">
                <a:solidFill>
                  <a:srgbClr val="272727"/>
                </a:solidFill>
                <a:latin typeface="Arial"/>
              </a:rPr>
              <a:t>TAS (17 agents)</a:t>
            </a:r>
          </a:p>
        </p:txBody>
      </p:sp>
      <p:sp>
        <p:nvSpPr>
          <p:cNvPr id="18" name="Rectangle 17"/>
          <p:cNvSpPr/>
          <p:nvPr/>
        </p:nvSpPr>
        <p:spPr>
          <a:xfrm>
            <a:off x="6547104" y="1188720"/>
            <a:ext cx="1965960" cy="18288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547104" y="1188720"/>
            <a:ext cx="1965960" cy="64008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84264" y="1344507"/>
            <a:ext cx="1691640" cy="257369"/>
          </a:xfrm>
          <a:prstGeom prst="rect">
            <a:avLst/>
          </a:prstGeom>
          <a:noFill/>
        </p:spPr>
        <p:txBody>
          <a:bodyPr wrap="square" lIns="36000" tIns="36000" rIns="36000" bIns="36000" anchor="t">
            <a:spAutoFit/>
          </a:bodyPr>
          <a:lstStyle/>
          <a:p>
            <a:pPr algn="ctr"/>
            <a:r>
              <a:rPr sz="1200" b="1" dirty="0">
                <a:solidFill>
                  <a:srgbClr val="FFFFFF"/>
                </a:solidFill>
                <a:latin typeface="Arial"/>
              </a:rPr>
              <a:t>EXECUTIVE DECK</a:t>
            </a:r>
          </a:p>
        </p:txBody>
      </p:sp>
      <p:sp>
        <p:nvSpPr>
          <p:cNvPr id="21" name="TextBox 20"/>
          <p:cNvSpPr txBox="1"/>
          <p:nvPr/>
        </p:nvSpPr>
        <p:spPr>
          <a:xfrm>
            <a:off x="6684264" y="1965960"/>
            <a:ext cx="1691640" cy="241980"/>
          </a:xfrm>
          <a:prstGeom prst="rect">
            <a:avLst/>
          </a:prstGeom>
          <a:noFill/>
        </p:spPr>
        <p:txBody>
          <a:bodyPr wrap="square" lIns="36000" tIns="36000" rIns="36000" bIns="36000" anchor="t">
            <a:spAutoFit/>
          </a:bodyPr>
          <a:lstStyle/>
          <a:p>
            <a:pPr algn="ctr"/>
            <a:r>
              <a:rPr sz="1100" b="0" dirty="0">
                <a:solidFill>
                  <a:srgbClr val="272727"/>
                </a:solidFill>
                <a:latin typeface="Arial"/>
              </a:rPr>
              <a:t>C</a:t>
            </a:r>
            <a:r>
              <a:rPr lang="en-US" sz="1100" b="0" dirty="0">
                <a:solidFill>
                  <a:srgbClr val="272727"/>
                </a:solidFill>
                <a:latin typeface="Arial"/>
              </a:rPr>
              <a:t>X</a:t>
            </a:r>
            <a:r>
              <a:rPr sz="1100" b="0" dirty="0">
                <a:solidFill>
                  <a:srgbClr val="272727"/>
                </a:solidFill>
                <a:latin typeface="Arial"/>
              </a:rPr>
              <a:t>O presentation</a:t>
            </a:r>
          </a:p>
        </p:txBody>
      </p:sp>
      <p:sp>
        <p:nvSpPr>
          <p:cNvPr id="22" name="Rectangle 21"/>
          <p:cNvSpPr/>
          <p:nvPr/>
        </p:nvSpPr>
        <p:spPr>
          <a:xfrm>
            <a:off x="320040" y="3291840"/>
            <a:ext cx="8412480" cy="54864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3413761"/>
            <a:ext cx="8229600" cy="257369"/>
          </a:xfrm>
          <a:prstGeom prst="rect">
            <a:avLst/>
          </a:prstGeom>
          <a:noFill/>
        </p:spPr>
        <p:txBody>
          <a:bodyPr wrap="square" lIns="36000" tIns="36000" rIns="36000" bIns="36000" anchor="t">
            <a:spAutoFit/>
          </a:bodyPr>
          <a:lstStyle/>
          <a:p>
            <a:pPr algn="ctr"/>
            <a:r>
              <a:rPr sz="1200" b="1" dirty="0">
                <a:solidFill>
                  <a:srgbClr val="FFFFFF"/>
                </a:solidFill>
                <a:latin typeface="Arial"/>
              </a:rPr>
              <a:t>All deliverables available for review  ·  Prototypes runnable</a:t>
            </a:r>
            <a:r>
              <a:rPr lang="en-US" sz="1200" b="1" dirty="0">
                <a:solidFill>
                  <a:srgbClr val="FFFFFF"/>
                </a:solidFill>
                <a:latin typeface="Arial"/>
              </a:rPr>
              <a:t> locally</a:t>
            </a:r>
            <a:r>
              <a:rPr sz="1200" b="1" dirty="0">
                <a:solidFill>
                  <a:srgbClr val="FFFFFF"/>
                </a:solidFill>
                <a:latin typeface="Arial"/>
              </a:rPr>
              <a:t>  ·  Every claim traceable to source</a:t>
            </a:r>
          </a:p>
        </p:txBody>
      </p:sp>
      <p:sp>
        <p:nvSpPr>
          <p:cNvPr id="24" name="TextBox 23"/>
          <p:cNvSpPr txBox="1"/>
          <p:nvPr/>
        </p:nvSpPr>
        <p:spPr>
          <a:xfrm>
            <a:off x="2286000" y="4114800"/>
            <a:ext cx="4572000" cy="457200"/>
          </a:xfrm>
          <a:prstGeom prst="rect">
            <a:avLst/>
          </a:prstGeom>
          <a:noFill/>
        </p:spPr>
        <p:txBody>
          <a:bodyPr wrap="square" lIns="36000" tIns="36000" rIns="36000" bIns="36000" anchor="t">
            <a:spAutoFit/>
          </a:bodyPr>
          <a:lstStyle/>
          <a:p>
            <a:pPr algn="ctr"/>
            <a:r>
              <a:rPr sz="2400" b="1">
                <a:solidFill>
                  <a:srgbClr val="001B5B"/>
                </a:solidFill>
                <a:latin typeface="Arial"/>
              </a:rPr>
              <a:t>Questions?</a:t>
            </a:r>
          </a:p>
        </p:txBody>
      </p:sp>
      <p:sp>
        <p:nvSpPr>
          <p:cNvPr id="25" name="TextBox 24"/>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1</a:t>
            </a:r>
            <a:r>
              <a:rPr lang="en-US" sz="800" dirty="0">
                <a:solidFill>
                  <a:srgbClr val="999999"/>
                </a:solidFill>
                <a:latin typeface="Arial"/>
              </a:rPr>
              <a:t>1</a:t>
            </a:r>
            <a:r>
              <a:rPr sz="800" b="0" dirty="0">
                <a:solidFill>
                  <a:srgbClr val="999999"/>
                </a:solidFill>
                <a:latin typeface="Arial"/>
              </a:rPr>
              <a:t> / 1</a:t>
            </a:r>
            <a:r>
              <a:rPr lang="en-US" sz="800" dirty="0">
                <a:solidFill>
                  <a:srgbClr val="999999"/>
                </a:solidFill>
                <a:latin typeface="Arial"/>
              </a:rPr>
              <a:t>1</a:t>
            </a:r>
            <a:endParaRPr sz="800" b="0" dirty="0">
              <a:solidFill>
                <a:srgbClr val="999999"/>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4476</Words>
  <Application>Microsoft Office PowerPoint</Application>
  <PresentationFormat>On-screen Show (16:9)</PresentationFormat>
  <Paragraphs>345</Paragraphs>
  <Slides>17</Slides>
  <Notes>17</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Nirmit Shah</cp:lastModifiedBy>
  <cp:revision>2</cp:revision>
  <dcterms:created xsi:type="dcterms:W3CDTF">2013-01-27T09:14:16Z</dcterms:created>
  <dcterms:modified xsi:type="dcterms:W3CDTF">2026-05-28T22:29:53Z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3bba68-4eb1-45e8-9c75-b7dd7eb6bd90_Enabled">
    <vt:lpwstr>true</vt:lpwstr>
  </property>
  <property fmtid="{D5CDD505-2E9C-101B-9397-08002B2CF9AE}" pid="3" name="MSIP_Label_153bba68-4eb1-45e8-9c75-b7dd7eb6bd90_SetDate">
    <vt:lpwstr>2026-05-28T22:22:47Z</vt:lpwstr>
  </property>
  <property fmtid="{D5CDD505-2E9C-101B-9397-08002B2CF9AE}" pid="4" name="MSIP_Label_153bba68-4eb1-45e8-9c75-b7dd7eb6bd90_Method">
    <vt:lpwstr>Standard</vt:lpwstr>
  </property>
  <property fmtid="{D5CDD505-2E9C-101B-9397-08002B2CF9AE}" pid="5" name="MSIP_Label_153bba68-4eb1-45e8-9c75-b7dd7eb6bd90_Name">
    <vt:lpwstr>153bba68-4eb1-45e8-9c75-b7dd7eb6bd90</vt:lpwstr>
  </property>
  <property fmtid="{D5CDD505-2E9C-101B-9397-08002B2CF9AE}" pid="6" name="MSIP_Label_153bba68-4eb1-45e8-9c75-b7dd7eb6bd90_SiteId">
    <vt:lpwstr>e5ba7b2a-a780-41a9-92b2-c2ed52d3a12f</vt:lpwstr>
  </property>
  <property fmtid="{D5CDD505-2E9C-101B-9397-08002B2CF9AE}" pid="7" name="MSIP_Label_153bba68-4eb1-45e8-9c75-b7dd7eb6bd90_ActionId">
    <vt:lpwstr>ee8f0d72-dd5f-4786-b58e-9f0c10f286b8</vt:lpwstr>
  </property>
  <property fmtid="{D5CDD505-2E9C-101B-9397-08002B2CF9AE}" pid="8" name="MSIP_Label_153bba68-4eb1-45e8-9c75-b7dd7eb6bd90_ContentBits">
    <vt:lpwstr>2</vt:lpwstr>
  </property>
  <property fmtid="{D5CDD505-2E9C-101B-9397-08002B2CF9AE}" pid="9" name="MSIP_Label_153bba68-4eb1-45e8-9c75-b7dd7eb6bd90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Tata Sons - Internal</vt:lpwstr>
  </property>
</Properties>
</file>